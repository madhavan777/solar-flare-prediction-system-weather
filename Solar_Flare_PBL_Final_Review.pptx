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"/>
  </p:notesMasterIdLst>
  <p:sldIdLst>
    <p:sldId id="319" r:id="rId2"/>
    <p:sldId id="506" r:id="rId3"/>
    <p:sldId id="514" r:id="rId4"/>
    <p:sldId id="507" r:id="rId5"/>
    <p:sldId id="508" r:id="rId6"/>
    <p:sldId id="509" r:id="rId7"/>
    <p:sldId id="515" r:id="rId8"/>
    <p:sldId id="513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>
        <p:scale>
          <a:sx n="33" d="100"/>
          <a:sy n="33" d="100"/>
        </p:scale>
        <p:origin x="643" y="10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65EB6FF-ADAA-45C6-A825-247BBAE19742}" type="datetimeFigureOut">
              <a:rPr lang="en-IN" smtClean="0"/>
              <a:t>24-09-2026</a:t>
            </a:fld>
            <a:endParaRPr lang="en-IN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AA77BC4-17D5-4B3B-8254-CC862B6A5E2F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5099841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AA77BC4-17D5-4B3B-8254-CC862B6A5E2F}" type="slidenum">
              <a:rPr lang="en-IN" smtClean="0"/>
              <a:t>4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62963404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2E602E-F900-9031-6AC8-73F10556E01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14C2B61-6876-88B3-A5F9-7B829DA4238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6A60275-ABCD-B29C-8C0A-6E4F2FD3EC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Date: DD/MM/YYYY</a:t>
            </a:r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FF3498-F4F9-DB41-CD36-6A221BCB6F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II–Year PBL Project Review–II</a:t>
            </a:r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ACE914-FBBD-92B9-9CA2-3F40FD1D7E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EE2AE5-9218-4A07-842F-E84162EAAD55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3366335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E98DF1-C5BE-6796-70DE-A3F503A71D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F4492F-7D80-29C9-2308-5A8569C2D36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E13FDF3-E10C-A3F0-B98D-453E8083D1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Date: DD/MM/YYYY</a:t>
            </a:r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6066F82-2042-C918-C81F-2F9B4F18B3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II–Year PBL Project Review–II</a:t>
            </a:r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CC9D627-19C3-DC54-7CD9-FA55008391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EE2AE5-9218-4A07-842F-E84162EAAD55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957866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5671E6-8C35-83BC-2B33-0655540CB5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45F6C37-AB34-25BE-12C1-AA65FCA8F7B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AF8FFD-45F0-DD57-FE3C-9E076ACE2E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Date: DD/MM/YYYY</a:t>
            </a:r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2A5514-393C-EFCE-01F9-B2CE001A8B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II–Year PBL Project Review–II</a:t>
            </a:r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5ACB48-3533-1C36-3514-71B63718CF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EE2AE5-9218-4A07-842F-E84162EAAD55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420567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0CD219-FA69-9CBF-FBDE-B710CFB85D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F158CF-DE11-9B79-12E3-5342CE5B612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9E2B980-E864-34A6-6906-C86638E1851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7A7FA1C-7B6A-BA75-B37B-195B0F5736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Date: DD/MM/YYYY</a:t>
            </a:r>
            <a:endParaRPr lang="en-IN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D97CB70-8B73-BAB9-8426-FDEFD71637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II–Year PBL Project Review–II</a:t>
            </a:r>
            <a:endParaRPr lang="en-IN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CA51A4B-870D-163F-53D2-0AADE3398F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EE2AE5-9218-4A07-842F-E84162EAAD55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823984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7BA5A0-BB01-6BB8-C159-471001A900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7476893-4A4F-426A-A5F6-626610F3794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195C00F-0E53-D71D-782E-D740B83A1AA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283FF82-8820-CCBF-411E-57C2C0FB43F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9AF392E-9590-423C-3F62-1B99F8ED7DB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651395E-14B8-3C49-B85F-5EE4C7A43E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Date: DD/MM/YYYY</a:t>
            </a:r>
            <a:endParaRPr lang="en-IN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25F0EAD-79ED-31EE-A7B8-00CA48D0D6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II–Year PBL Project Review–II</a:t>
            </a:r>
            <a:endParaRPr lang="en-IN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39BBB80-F93E-5FA1-B554-B865EFB6E3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EE2AE5-9218-4A07-842F-E84162EAAD55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734442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DD0E9A-C769-7BAB-77EC-E3DD0C871D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49FE8A4-529A-DDB2-CFFE-2621FA7238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Date: DD/MM/YYYY</a:t>
            </a:r>
            <a:endParaRPr lang="en-IN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097F48B-5C43-9F3A-55CC-A47A74EE7E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II–Year PBL Project Review–II</a:t>
            </a:r>
            <a:endParaRPr lang="en-IN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30BDCAC-FA44-2D60-C7FB-00EA9C2A99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EE2AE5-9218-4A07-842F-E84162EAAD55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8295466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07AFBC8-4429-3CF2-D7FD-013C843A58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Date: DD/MM/YYYY</a:t>
            </a:r>
            <a:endParaRPr lang="en-IN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86F2463-4C84-38B5-C473-94DEDD337F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II–Year PBL Project Review–II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6D4EB43-8F87-9269-D6F6-0FBA032535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EE2AE5-9218-4A07-842F-E84162EAAD55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237652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221E04-8BD9-6B68-FC0F-A711F6A8CC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7F50A1-7EB1-0089-AFE0-A0B4139BAAD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88D8750-631F-0F8E-8365-7236BB4F648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74EE415-B1A5-EF49-8E72-3A526EF23D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Date: DD/MM/YYYY</a:t>
            </a:r>
            <a:endParaRPr lang="en-IN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64330E7-EC53-C9ED-DBB8-5B347D7F26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II–Year PBL Project Review–II</a:t>
            </a:r>
            <a:endParaRPr lang="en-IN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EDCD15B-3E89-C907-AE04-8C7A74F28B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EE2AE5-9218-4A07-842F-E84162EAAD55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4731367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4BBE34-C477-BD1D-5C4A-423A42EC47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FF98EAA-EB77-18BB-153B-3C2C17FD4C0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EF9DA39-FACA-F80B-5621-B93583F1D07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3DF808F-D30B-9980-A54D-AF59385A34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Date: DD/MM/YYYY</a:t>
            </a:r>
            <a:endParaRPr lang="en-IN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7D7B967-36B2-D49E-ACAA-62ED901794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II–Year PBL Project Review–II</a:t>
            </a:r>
            <a:endParaRPr lang="en-IN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7F779D1-E21D-CDFE-D44E-F0AE9A47EA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EE2AE5-9218-4A07-842F-E84162EAAD55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350413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58ADA2-FAF6-FC43-216D-329339BBA6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CF6FCD0-243C-6296-B116-1BE620DC323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E754B15-B895-3960-42A1-243C13660B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Date: DD/MM/YYYY</a:t>
            </a:r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0F702E8-C53E-4EA8-5371-E99E20C0BC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II–Year PBL Project Review–II</a:t>
            </a:r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71A6DE-5D9F-FF19-9DCE-40347D324F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EE2AE5-9218-4A07-842F-E84162EAAD55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203224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20E82D7-F785-4947-1FAC-D31467C679D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BB5C0C9-4A27-BB0A-99C0-CD5C624AAAC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1A07FE6-F9D6-5313-31D3-3B456B3EC4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Date: DD/MM/YYYY</a:t>
            </a:r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BC271F-B837-12E3-63A5-2BF92AF5D0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II–Year PBL Project Review–II</a:t>
            </a:r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3A47357-8C1B-DAF7-EA68-D7B300470F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EE2AE5-9218-4A07-842F-E84162EAAD55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90642606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3" Type="http://schemas.openxmlformats.org/officeDocument/2006/relationships/image" Target="../media/image1.jp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alphaModFix amt="18000"/>
            <a:lum/>
          </a:blip>
          <a:srcRect/>
          <a:stretch>
            <a:fillRect l="4000" t="15000" r="4000" b="18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E2500EC-1157-3044-AF8C-8BB8052A0F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51158B8-89EE-6370-40DB-B553292010B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70FA01-4EFB-2556-186F-6EDC8B37E23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Date: DD/MM/YYYY</a:t>
            </a:r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73A508-2D6B-F27D-0E75-55977FA039C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II–Year PBL Project Review–II</a:t>
            </a:r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689B5CE-202A-2084-F4FC-495F1B77B52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4EE2AE5-9218-4A07-842F-E84162EAAD55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694183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3" Type="http://schemas.openxmlformats.org/officeDocument/2006/relationships/image" Target="../media/image6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Relationship Id="rId4" Type="http://schemas.openxmlformats.org/officeDocument/2006/relationships/image" Target="../media/image7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3" Type="http://schemas.openxmlformats.org/officeDocument/2006/relationships/image" Target="../media/image8.png"/><Relationship Id="rId4" Type="http://schemas.openxmlformats.org/officeDocument/2006/relationships/image" Target="../media/image9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3" Type="http://schemas.openxmlformats.org/officeDocument/2006/relationships/image" Target="../media/image10.png"/><Relationship Id="rId4" Type="http://schemas.openxmlformats.org/officeDocument/2006/relationships/image" Target="../media/image11.png"/><Relationship Id="rId5" Type="http://schemas.openxmlformats.org/officeDocument/2006/relationships/image" Target="../media/image1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3" Type="http://schemas.openxmlformats.org/officeDocument/2006/relationships/image" Target="../media/image3.jp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38200" y="1514759"/>
            <a:ext cx="10515600" cy="1137422"/>
          </a:xfrm>
          <a:noFill/>
        </p:spPr>
        <p:txBody>
          <a:bodyPr>
            <a:normAutofit/>
          </a:bodyPr>
          <a:lstStyle/>
          <a:p>
            <a:r>
              <a:rPr lang="en-US" sz="3200" b="1" dirty="0">
                <a:solidFill>
                  <a:srgbClr val="000000"/>
                </a:solidFill>
                <a:latin typeface="Times New Roman" panose="02020603050405020304" pitchFamily="18" charset="0"/>
                <a:ea typeface="Times New Roman"/>
                <a:cs typeface="Times New Roman"/>
              </a:rPr>
              <a:t>CS3503 – Machine Learning PBL</a:t>
            </a:r>
            <a:b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200" b="1" dirty="0">
                <a:solidFill>
                  <a:srgbClr val="000000"/>
                </a:solidFill>
                <a:latin typeface="Times New Roman" panose="02020603050405020304" pitchFamily="18" charset="0"/>
                <a:ea typeface="Times New Roman"/>
                <a:cs typeface="Times New Roman"/>
              </a:rPr>
              <a:t>Project Review</a:t>
            </a:r>
            <a:endParaRPr lang="en-IN" sz="3200" b="1" dirty="0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E695C9B8-2B8D-722A-D1E4-DB26ABC2277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67253" y="4205820"/>
            <a:ext cx="4822502" cy="1747839"/>
          </a:xfrm>
          <a:noFill/>
        </p:spPr>
        <p:txBody>
          <a:bodyPr rtlCol="0" wrap="square" anchor="t">
            <a:normAutofit/>
          </a:bodyPr>
          <a:lstStyle/>
          <a:p>
            <a:pPr algn="just" eaLnBrk="1" fontAlgn="auto" hangingPunct="1" marL="0" indent="0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  <a:buNone/>
              <a:defRPr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98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Presentation by</a:t>
            </a:r>
            <a:endParaRPr lang="en-US" sz="2000" dirty="0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sz="165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Madhavan G  </a:t>
            </a:r>
            <a:r>
              <a:rPr sz="165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(2104251040518)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sz="165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Sriram Sivakumar  </a:t>
            </a:r>
            <a:r>
              <a:rPr sz="165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(2104251040971)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4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B.E. Computer Science and Engineering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54B01F8-75A2-E674-8FB3-91C160A6480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8407" b="13744"/>
          <a:stretch>
            <a:fillRect/>
          </a:stretch>
        </p:blipFill>
        <p:spPr>
          <a:xfrm>
            <a:off x="2746627" y="136526"/>
            <a:ext cx="6698746" cy="1137422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8A8A47D1-B6FE-DF05-8C4F-BF8ADA8CECA2}"/>
              </a:ext>
            </a:extLst>
          </p:cNvPr>
          <p:cNvSpPr txBox="1"/>
          <p:nvPr/>
        </p:nvSpPr>
        <p:spPr>
          <a:xfrm>
            <a:off x="548640" y="2724912"/>
            <a:ext cx="11091672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286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Solar Flare Prediction &amp; Space Weather Alert System</a:t>
            </a:r>
            <a:endParaRPr lang="en-IN" sz="2000" dirty="0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40" b="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Forecasting major (M/X-class) flares 24 hours ahead from solar magnetic-field data</a:t>
            </a:r>
          </a:p>
        </p:txBody>
      </p:sp>
      <p:sp>
        <p:nvSpPr>
          <p:cNvPr id="12" name="Subtitle 2">
            <a:extLst>
              <a:ext uri="{FF2B5EF4-FFF2-40B4-BE49-F238E27FC236}">
                <a16:creationId xmlns:a16="http://schemas.microsoft.com/office/drawing/2014/main" id="{3E79CF91-FEBC-8843-2396-3F73C4A93418}"/>
              </a:ext>
            </a:extLst>
          </p:cNvPr>
          <p:cNvSpPr txBox="1">
            <a:spLocks/>
          </p:cNvSpPr>
          <p:nvPr/>
        </p:nvSpPr>
        <p:spPr>
          <a:xfrm>
            <a:off x="7164038" y="4205819"/>
            <a:ext cx="4562669" cy="1747839"/>
          </a:xfrm>
          <a:prstGeom prst="rect">
            <a:avLst/>
          </a:prstGeom>
          <a:noFill/>
        </p:spPr>
        <p:txBody>
          <a:bodyPr vert="horz" lIns="91440" tIns="45720" rIns="91440" bIns="45720" rtlCol="0" wrap="square" anchor="t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  <a:buNone/>
              <a:defRPr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98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Mentor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sz="165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Ms Poornima Lakshmi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sz="154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Mentor &amp; Project Coordinator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4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Dept. of Computer Science and Engineering</a:t>
            </a:r>
          </a:p>
        </p:txBody>
      </p:sp>
      <p:sp>
        <p:nvSpPr>
          <p:cNvPr id="16" name="Slide Number Placeholder 15">
            <a:extLst>
              <a:ext uri="{FF2B5EF4-FFF2-40B4-BE49-F238E27FC236}">
                <a16:creationId xmlns:a16="http://schemas.microsoft.com/office/drawing/2014/main" id="{4DD7FD45-5E4F-0506-E6E9-699A49C3E5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EE2AE5-9218-4A07-842F-E84162EAAD55}" type="slidenum">
              <a:rPr lang="en-IN" smtClean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1</a:t>
            </a:fld>
            <a:endParaRPr lang="en-IN" dirty="0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17" name="Date Placeholder 16">
            <a:extLst>
              <a:ext uri="{FF2B5EF4-FFF2-40B4-BE49-F238E27FC236}">
                <a16:creationId xmlns:a16="http://schemas.microsoft.com/office/drawing/2014/main" id="{CD744800-7B7D-1CC0-99F0-27E4BA9DEB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Date: 07/10/2026</a:t>
            </a:r>
            <a:endParaRPr lang="en-IN" dirty="0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18" name="Footer Placeholder 17">
            <a:extLst>
              <a:ext uri="{FF2B5EF4-FFF2-40B4-BE49-F238E27FC236}">
                <a16:creationId xmlns:a16="http://schemas.microsoft.com/office/drawing/2014/main" id="{1FE1F1F0-72E3-4268-62A9-CA71368ADF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II–Year PBL Project Final Review</a:t>
            </a:r>
            <a:endParaRPr lang="en-IN" dirty="0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29217143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B9CACB-BD96-E2FF-8A86-211497479D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447675"/>
          </a:xfrm>
          <a:solidFill>
            <a:schemeClr val="bg1"/>
          </a:solidFill>
        </p:spPr>
        <p:txBody>
          <a:bodyPr>
            <a:noAutofit/>
          </a:bodyPr>
          <a:lstStyle/>
          <a:p>
            <a:pPr algn="ctr"/>
            <a:r>
              <a:rPr lang="en-IN" sz="3200" b="1" dirty="0">
                <a:solidFill>
                  <a:srgbClr val="000000"/>
                </a:solidFill>
                <a:latin typeface="Times New Roman" panose="02020603050405020304" pitchFamily="18" charset="0"/>
                <a:ea typeface="Times New Roman"/>
                <a:cs typeface="Times New Roman"/>
              </a:rPr>
              <a:t>Problem &amp; Objectives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64B721-FE62-DE79-132F-30A2E97EDB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8320" y="995680"/>
            <a:ext cx="11135360" cy="2377440"/>
          </a:xfrm>
          <a:noFill/>
          <a:ln>
            <a:solidFill>
              <a:schemeClr val="tx1"/>
            </a:solidFill>
          </a:ln>
        </p:spPr>
        <p:txBody>
          <a:bodyPr wrap="square" anchor="t">
            <a:norm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sz="187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Problem Statement</a:t>
            </a:r>
            <a:endParaRPr lang="en-US" sz="2200" b="1" dirty="0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None/>
            </a:pPr>
            <a:r>
              <a:rPr sz="154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A major solar flare releases in minutes the energy of billions of tonnes of TNT. The radiation reaches Earth in about eight minutes and disrupts </a:t>
            </a:r>
            <a:r>
              <a:rPr sz="154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HF radio and aviation communication, degrades GPS accuracy, damages satellite electronics and can induce currents that destabilise power grids.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None/>
            </a:pPr>
            <a:r>
              <a:rPr sz="154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Satellite operators, polar-route airlines, power utilities and space agencies are all affected, and once an eruption is visible it is already too late to act.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None/>
            </a:pPr>
            <a:r>
              <a:rPr sz="154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The magnetic field of a solar active region, however, </a:t>
            </a:r>
            <a:r>
              <a:rPr sz="154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changes measurably in the hours before it erupts.</a:t>
            </a:r>
            <a:r>
              <a:rPr sz="154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The question this project asks is whether that change can be learned from historical observations and turned into a usable 24-hour advance warning.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523CDA66-B5BD-2386-BB8F-4912377972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EE2AE5-9218-4A07-842F-E84162EAAD55}" type="slidenum">
              <a:rPr lang="en-IN" smtClean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2</a:t>
            </a:fld>
            <a:endParaRPr lang="en-IN" dirty="0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EA11D91B-4958-A12F-C19C-77C5B83B11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Date: 07/10/2026</a:t>
            </a:r>
            <a:endParaRPr lang="en-IN" dirty="0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FC1B7ED-4992-7EBC-5212-A1AE4793B19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899" t="4596" r="67470" b="9539"/>
          <a:stretch>
            <a:fillRect/>
          </a:stretch>
        </p:blipFill>
        <p:spPr>
          <a:xfrm>
            <a:off x="10639226" y="87932"/>
            <a:ext cx="1429148" cy="907748"/>
          </a:xfrm>
          <a:prstGeom prst="rect">
            <a:avLst/>
          </a:prstGeom>
        </p:spPr>
      </p:pic>
      <p:sp>
        <p:nvSpPr>
          <p:cNvPr id="4" name="Footer Placeholder 17">
            <a:extLst>
              <a:ext uri="{FF2B5EF4-FFF2-40B4-BE49-F238E27FC236}">
                <a16:creationId xmlns:a16="http://schemas.microsoft.com/office/drawing/2014/main" id="{30690128-931D-A777-D1FD-90C08716F8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II–Year PBL Project Final Review</a:t>
            </a:r>
            <a:endParaRPr lang="en-IN" dirty="0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14CFBC3A-C6D9-950A-AAA8-D4DC8D77DE35}"/>
              </a:ext>
            </a:extLst>
          </p:cNvPr>
          <p:cNvSpPr txBox="1">
            <a:spLocks/>
          </p:cNvSpPr>
          <p:nvPr/>
        </p:nvSpPr>
        <p:spPr>
          <a:xfrm>
            <a:off x="528320" y="3456432"/>
            <a:ext cx="5431322" cy="289864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vert="horz" lIns="91440" tIns="45720" rIns="91440" bIns="45720" rtlCol="0" wrap="square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sz="187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Objective</a:t>
            </a:r>
          </a:p>
          <a:p>
            <a:pPr marL="201168" indent="-201168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149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•  </a:t>
            </a:r>
            <a:r>
              <a:rPr sz="149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Identify</a:t>
            </a:r>
            <a:r>
              <a:rPr sz="149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the magnetic-field signatures that precede major flares, using SDO/HMI SHARP parameters from the SWAN-SF benchmark.</a:t>
            </a:r>
          </a:p>
          <a:p>
            <a:pPr marL="201168" indent="-201168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149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•  </a:t>
            </a:r>
            <a:r>
              <a:rPr sz="149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Develop</a:t>
            </a:r>
            <a:r>
              <a:rPr sz="149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a leakage-safe pipeline that turns a 12-hour observation window into a 24-hour forecast.</a:t>
            </a:r>
          </a:p>
          <a:p>
            <a:pPr marL="201168" indent="-201168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149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•  </a:t>
            </a:r>
            <a:r>
              <a:rPr sz="149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Apply and compare</a:t>
            </a:r>
            <a:r>
              <a:rPr sz="149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Logistic Regression and Random Forest across two feature iterations, selecting on validation data only.</a:t>
            </a:r>
          </a:p>
          <a:p>
            <a:pPr marL="201168" indent="-201168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149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•  </a:t>
            </a:r>
            <a:r>
              <a:rPr sz="149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Evaluate</a:t>
            </a:r>
            <a:r>
              <a:rPr sz="149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on a locked test partition, scored once, using imbalance-aware metrics (TSS, PR-AUC, HSS2) rather than accuracy.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264EE8C4-9DF8-3FF3-8179-F4A537F21798}"/>
              </a:ext>
            </a:extLst>
          </p:cNvPr>
          <p:cNvSpPr txBox="1">
            <a:spLocks/>
          </p:cNvSpPr>
          <p:nvPr/>
        </p:nvSpPr>
        <p:spPr>
          <a:xfrm>
            <a:off x="6232358" y="3456432"/>
            <a:ext cx="5431322" cy="289864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vert="horz" lIns="91440" tIns="45720" rIns="91440" bIns="45720" rtlCol="0" wrap="square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sz="187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Expected Outcome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None/>
            </a:pPr>
            <a:r>
              <a:rPr sz="149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A machine-learning system capable of flagging, </a:t>
            </a:r>
            <a:r>
              <a:rPr sz="149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24 hours in advance</a:t>
            </a:r>
            <a:r>
              <a:rPr sz="149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, which solar active regions are likely to produce a major flare.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sz="132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Delivered as:</a:t>
            </a:r>
          </a:p>
          <a:p>
            <a:pPr marL="201168" indent="-201168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149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•  </a:t>
            </a:r>
            <a:r>
              <a:rPr sz="149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a reproducible codebase that recomputes every published number with one command;</a:t>
            </a:r>
          </a:p>
          <a:p>
            <a:pPr marL="201168" indent="-201168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149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•  </a:t>
            </a:r>
            <a:r>
              <a:rPr sz="149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an interactive web dashboard showing the forecast, the risk level and the exact reason for each decision;</a:t>
            </a:r>
          </a:p>
          <a:p>
            <a:pPr marL="201168" indent="-201168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149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•  </a:t>
            </a:r>
            <a:r>
              <a:rPr sz="149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an honest account of the error rates, with the failures shown rather than hidden.</a:t>
            </a:r>
          </a:p>
        </p:txBody>
      </p:sp>
    </p:spTree>
    <p:extLst>
      <p:ext uri="{BB962C8B-B14F-4D97-AF65-F5344CB8AC3E}">
        <p14:creationId xmlns:p14="http://schemas.microsoft.com/office/powerpoint/2010/main" val="92047490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5419B9-8D2B-A5A3-F590-0BFB33841E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BFBA6E-00B3-FA77-124C-9ED96ECA46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447675"/>
          </a:xfrm>
          <a:solidFill>
            <a:schemeClr val="bg1"/>
          </a:solidFill>
        </p:spPr>
        <p:txBody>
          <a:bodyPr>
            <a:noAutofit/>
          </a:bodyPr>
          <a:lstStyle/>
          <a:p>
            <a:pPr algn="ctr"/>
            <a:r>
              <a:rPr lang="en-IN" sz="3200" b="1" dirty="0">
                <a:solidFill>
                  <a:srgbClr val="000000"/>
                </a:solidFill>
                <a:latin typeface="Times New Roman" panose="02020603050405020304" pitchFamily="18" charset="0"/>
                <a:ea typeface="Times New Roman"/>
                <a:cs typeface="Times New Roman"/>
              </a:rPr>
              <a:t>Input, Analysis &amp; Insights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25D538F8-98D7-48A3-27E2-29A0B68291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EE2AE5-9218-4A07-842F-E84162EAAD55}" type="slidenum">
              <a:rPr lang="en-IN" smtClean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3</a:t>
            </a:fld>
            <a:endParaRPr lang="en-IN" dirty="0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6A5BEA90-A627-443A-8EA9-207D3A67C9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Date: 07/10/2026</a:t>
            </a:r>
            <a:endParaRPr lang="en-IN" dirty="0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F0AD397-676F-684A-AD7C-D3C8687BC10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899" t="4596" r="67470" b="9539"/>
          <a:stretch>
            <a:fillRect/>
          </a:stretch>
        </p:blipFill>
        <p:spPr>
          <a:xfrm>
            <a:off x="10639226" y="87932"/>
            <a:ext cx="1429148" cy="907748"/>
          </a:xfrm>
          <a:prstGeom prst="rect">
            <a:avLst/>
          </a:prstGeom>
        </p:spPr>
      </p:pic>
      <p:sp>
        <p:nvSpPr>
          <p:cNvPr id="4" name="Footer Placeholder 17">
            <a:extLst>
              <a:ext uri="{FF2B5EF4-FFF2-40B4-BE49-F238E27FC236}">
                <a16:creationId xmlns:a16="http://schemas.microsoft.com/office/drawing/2014/main" id="{8E569DF1-A45B-2F18-2C1D-E91C9F96E6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II–Year PBL Project Final Review</a:t>
            </a:r>
            <a:endParaRPr lang="en-IN" dirty="0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3F972567-383A-549B-CF00-1D76A4759ADD}"/>
              </a:ext>
            </a:extLst>
          </p:cNvPr>
          <p:cNvSpPr txBox="1">
            <a:spLocks/>
          </p:cNvSpPr>
          <p:nvPr/>
        </p:nvSpPr>
        <p:spPr>
          <a:xfrm>
            <a:off x="528320" y="995680"/>
            <a:ext cx="5431322" cy="267004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vert="horz" lIns="91440" tIns="45720" rIns="91440" bIns="45720" rtlCol="0" wrap="square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sz="187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Input / Data Sources</a:t>
            </a:r>
          </a:p>
          <a:p>
            <a:pPr marL="201168" indent="-201168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132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•  </a:t>
            </a:r>
            <a:r>
              <a:rPr sz="132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SWAN-SF v1.2</a:t>
            </a:r>
            <a:r>
              <a:rPr sz="132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benchmark, Harvard Dataverse (DOI 10.7910/DVN/EBCFKM).</a:t>
            </a:r>
          </a:p>
          <a:p>
            <a:pPr marL="201168" indent="-201168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132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•  </a:t>
            </a:r>
            <a:r>
              <a:rPr sz="132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331,185</a:t>
            </a:r>
            <a:r>
              <a:rPr sz="132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multivariate time-series windows spanning </a:t>
            </a:r>
            <a:r>
              <a:rPr sz="132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2010-05-01 to 2018-08-17</a:t>
            </a:r>
            <a:r>
              <a:rPr sz="132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.</a:t>
            </a:r>
          </a:p>
          <a:p>
            <a:pPr marL="201168" indent="-201168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132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•  </a:t>
            </a:r>
            <a:r>
              <a:rPr sz="132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Each window: </a:t>
            </a:r>
            <a:r>
              <a:rPr sz="132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12 h</a:t>
            </a:r>
            <a:r>
              <a:rPr sz="132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of SDO/HMI SHARP magnetic parameters at 12-minute cadence — 60 readings × 24 parameters.</a:t>
            </a:r>
          </a:p>
          <a:p>
            <a:pPr marL="201168" indent="-201168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132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•  </a:t>
            </a:r>
            <a:r>
              <a:rPr sz="132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Label y = 1 if a </a:t>
            </a:r>
            <a:r>
              <a:rPr sz="132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GOES M- or X-class</a:t>
            </a:r>
            <a:r>
              <a:rPr sz="132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flare begins within the next 24 h.</a:t>
            </a:r>
          </a:p>
          <a:p>
            <a:pPr marL="201168" indent="-201168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132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•  </a:t>
            </a:r>
            <a:r>
              <a:rPr sz="132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Five chronological partitions: </a:t>
            </a:r>
            <a:r>
              <a:rPr sz="132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P1–P3 train (204,559)</a:t>
            </a:r>
            <a:r>
              <a:rPr sz="132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, </a:t>
            </a:r>
            <a:r>
              <a:rPr sz="132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P4 validation (51,261)</a:t>
            </a:r>
            <a:r>
              <a:rPr sz="132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, </a:t>
            </a:r>
            <a:r>
              <a:rPr sz="132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P5 test (75,365)</a:t>
            </a:r>
            <a:r>
              <a:rPr sz="132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.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03E7483B-4811-61DA-D7B7-E92B17337300}"/>
              </a:ext>
            </a:extLst>
          </p:cNvPr>
          <p:cNvSpPr txBox="1">
            <a:spLocks/>
          </p:cNvSpPr>
          <p:nvPr/>
        </p:nvSpPr>
        <p:spPr>
          <a:xfrm>
            <a:off x="6232358" y="995680"/>
            <a:ext cx="5431322" cy="535838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vert="horz" lIns="91440" tIns="45720" rIns="91440" bIns="45720" rtlCol="0" wrap="square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sz="187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Analysis / Processing</a:t>
            </a:r>
          </a:p>
          <a:p>
            <a:pPr marL="201168" indent="-201168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127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•  </a:t>
            </a:r>
            <a:r>
              <a:rPr sz="127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24 parameters × 6 statistics = </a:t>
            </a:r>
            <a:r>
              <a:rPr sz="127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144 features</a:t>
            </a:r>
            <a:r>
              <a:rPr sz="127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per window (mean, sd, min, max, slope, last value).</a:t>
            </a:r>
          </a:p>
          <a:p>
            <a:pPr marL="201168" indent="-201168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127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•  </a:t>
            </a:r>
            <a:r>
              <a:rPr sz="127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Signed-log transform → median imputation → standardisation — all </a:t>
            </a:r>
            <a:r>
              <a:rPr sz="127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fitted on training data only.</a:t>
            </a:r>
          </a:p>
          <a:p>
            <a:pPr marL="201168" indent="-201168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127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•  </a:t>
            </a:r>
            <a:r>
              <a:rPr sz="127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Partitions are </a:t>
            </a:r>
            <a:r>
              <a:rPr sz="127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region-disjoint and time-ordered</a:t>
            </a:r>
            <a:r>
              <a:rPr sz="127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: no window and no active region appears in two splits.</a:t>
            </a:r>
          </a:p>
          <a:p>
            <a:pPr marL="201168" indent="-201168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127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•  </a:t>
            </a:r>
            <a:r>
              <a:rPr sz="127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Class imbalance (1.99 % positive in training) handled with class_weight="balanced" — a </a:t>
            </a:r>
            <a:r>
              <a:rPr sz="127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49:1</a:t>
            </a:r>
            <a:r>
              <a:rPr sz="127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weighting.</a:t>
            </a:r>
          </a:p>
          <a:p>
            <a:pPr marL="201168" indent="-201168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127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•  </a:t>
            </a:r>
            <a:r>
              <a:rPr sz="127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Thresholds fixed on validation; the test partition was </a:t>
            </a:r>
            <a:r>
              <a:rPr sz="127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scored once.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BDC3270D-AF1C-3E78-E712-FD035746225B}"/>
              </a:ext>
            </a:extLst>
          </p:cNvPr>
          <p:cNvSpPr txBox="1">
            <a:spLocks/>
          </p:cNvSpPr>
          <p:nvPr/>
        </p:nvSpPr>
        <p:spPr>
          <a:xfrm>
            <a:off x="528320" y="3730752"/>
            <a:ext cx="5431322" cy="262432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vert="horz" lIns="91440" tIns="45720" rIns="91440" bIns="45720" rtlCol="0" wrap="square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sz="187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Key Insights</a:t>
            </a:r>
          </a:p>
          <a:p>
            <a:pPr marL="201168" indent="-201168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132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•  </a:t>
            </a:r>
            <a:r>
              <a:rPr sz="132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Trend beats snapshot.</a:t>
            </a:r>
            <a:r>
              <a:rPr sz="132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Adding slope and last-value features lifted validation TSS over point-in-time features alone.</a:t>
            </a:r>
          </a:p>
          <a:p>
            <a:pPr marL="201168" indent="-201168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132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•  </a:t>
            </a:r>
            <a:r>
              <a:rPr sz="132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Accuracy is meaningless here.</a:t>
            </a:r>
            <a:r>
              <a:rPr sz="132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Only 1.31 % of test windows precede a major flare, so never alerting already scores 98.69 %.</a:t>
            </a:r>
          </a:p>
          <a:p>
            <a:pPr marL="201168" indent="-201168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132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•  </a:t>
            </a:r>
            <a:r>
              <a:rPr sz="132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A constant-climatology baseline scores </a:t>
            </a:r>
            <a:r>
              <a:rPr sz="132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TSS 0.000</a:t>
            </a:r>
            <a:r>
              <a:rPr sz="132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and detects nothing; this model scores </a:t>
            </a:r>
            <a:r>
              <a:rPr sz="132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TSS 0.853</a:t>
            </a:r>
            <a:r>
              <a:rPr sz="132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.</a:t>
            </a:r>
          </a:p>
          <a:p>
            <a:pPr marL="201168" indent="-201168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132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•  </a:t>
            </a:r>
            <a:r>
              <a:rPr sz="132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Total unsigned current helicity</a:t>
            </a:r>
            <a:r>
              <a:rPr sz="132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and </a:t>
            </a:r>
            <a:r>
              <a:rPr sz="132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free magnetic energy</a:t>
            </a:r>
            <a:r>
              <a:rPr sz="132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dominate the fitted coefficients — consistent with the physics of flare onset.</a:t>
            </a:r>
          </a:p>
        </p:txBody>
      </p:sp>
      <p:pic>
        <p:nvPicPr>
          <p:cNvPr id="14" name="Picture 13" descr="fig6_2_iteration_comparis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76288" y="3456432"/>
            <a:ext cx="4160520" cy="2549011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6327648" y="6035040"/>
            <a:ext cx="5248656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buNone/>
            </a:pPr>
            <a:r>
              <a:rPr sz="990" b="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Seven candidates were compared; the final model wins on F1 and PR-AUC while holding TSS.</a:t>
            </a:r>
          </a:p>
        </p:txBody>
      </p:sp>
    </p:spTree>
    <p:extLst>
      <p:ext uri="{BB962C8B-B14F-4D97-AF65-F5344CB8AC3E}">
        <p14:creationId xmlns:p14="http://schemas.microsoft.com/office/powerpoint/2010/main" val="336210272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115378-57A1-BD2B-6825-39104D9E91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336032-DF0E-254C-0CD8-AB6E666983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447675"/>
          </a:xfrm>
          <a:solidFill>
            <a:schemeClr val="bg1"/>
          </a:solidFill>
        </p:spPr>
        <p:txBody>
          <a:bodyPr>
            <a:noAutofit/>
          </a:bodyPr>
          <a:lstStyle/>
          <a:p>
            <a:pPr algn="ctr"/>
            <a:r>
              <a:rPr lang="en-IN" sz="32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/>
                <a:cs typeface="Times New Roman"/>
              </a:rPr>
              <a:t> </a:t>
            </a:r>
            <a:r>
              <a:rPr lang="en-IN" sz="3200" b="1" dirty="0">
                <a:solidFill>
                  <a:srgbClr val="000000"/>
                </a:solidFill>
                <a:latin typeface="Times New Roman" panose="02020603050405020304" pitchFamily="18" charset="0"/>
                <a:ea typeface="Times New Roman"/>
                <a:cs typeface="Times New Roman"/>
              </a:rPr>
              <a:t>Technical Approach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D518352F-9C19-CF1E-1D03-4BACF46A8E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EE2AE5-9218-4A07-842F-E84162EAAD55}" type="slidenum">
              <a:rPr lang="en-IN" smtClean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4</a:t>
            </a:fld>
            <a:endParaRPr lang="en-IN" dirty="0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5B39290C-FF8D-37DE-61F5-B382DBC801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Date: 07/10/2026</a:t>
            </a:r>
            <a:endParaRPr lang="en-IN" dirty="0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1A9A8F1E-B41B-EFBC-9FA3-324946ED4AF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899" t="4596" r="67470" b="9539"/>
          <a:stretch>
            <a:fillRect/>
          </a:stretch>
        </p:blipFill>
        <p:spPr>
          <a:xfrm>
            <a:off x="10639226" y="87932"/>
            <a:ext cx="1429148" cy="907748"/>
          </a:xfrm>
          <a:prstGeom prst="rect">
            <a:avLst/>
          </a:prstGeom>
        </p:spPr>
      </p:pic>
      <p:sp>
        <p:nvSpPr>
          <p:cNvPr id="10" name="Footer Placeholder 17">
            <a:extLst>
              <a:ext uri="{FF2B5EF4-FFF2-40B4-BE49-F238E27FC236}">
                <a16:creationId xmlns:a16="http://schemas.microsoft.com/office/drawing/2014/main" id="{20C423C8-65A4-300E-51C7-B4952EDE1E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II–Year PBL Project Final Review</a:t>
            </a:r>
            <a:endParaRPr lang="en-IN" dirty="0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265AD724-9C99-5D2A-C540-18B286306A28}"/>
              </a:ext>
            </a:extLst>
          </p:cNvPr>
          <p:cNvSpPr txBox="1">
            <a:spLocks/>
          </p:cNvSpPr>
          <p:nvPr/>
        </p:nvSpPr>
        <p:spPr>
          <a:xfrm>
            <a:off x="528320" y="995680"/>
            <a:ext cx="5431322" cy="22860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vert="horz" lIns="91440" tIns="45720" rIns="91440" bIns="45720" rtlCol="0" wrap="square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sz="187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Architecture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132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Five stages, end to end:</a:t>
            </a:r>
          </a:p>
          <a:p>
            <a:pPr marL="201168" indent="-201168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127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1.  </a:t>
            </a:r>
            <a:r>
              <a:rPr sz="127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Ingest &amp; validate</a:t>
            </a:r>
            <a:r>
              <a:rPr sz="127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— SWAN-SF archives, timestamp and QUALITY-flag checks.</a:t>
            </a:r>
          </a:p>
          <a:p>
            <a:pPr marL="201168" indent="-201168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127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2.  </a:t>
            </a:r>
            <a:r>
              <a:rPr sz="127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Window &amp; label</a:t>
            </a:r>
            <a:r>
              <a:rPr sz="127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— 12 h observation → 24 h prediction horizon, past data only.</a:t>
            </a:r>
          </a:p>
          <a:p>
            <a:pPr marL="201168" indent="-201168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127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3.  </a:t>
            </a:r>
            <a:r>
              <a:rPr sz="127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Feature construction</a:t>
            </a:r>
            <a:r>
              <a:rPr sz="127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— 144 leakage-safe summary statistics.</a:t>
            </a:r>
          </a:p>
          <a:p>
            <a:pPr marL="201168" indent="-201168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127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4.  </a:t>
            </a:r>
            <a:r>
              <a:rPr sz="127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Train &amp; select</a:t>
            </a:r>
            <a:r>
              <a:rPr sz="127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— fit on P1–P3, choose on P4 by maximum TSS.</a:t>
            </a:r>
          </a:p>
          <a:p>
            <a:pPr marL="201168" indent="-201168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127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5.  </a:t>
            </a:r>
            <a:r>
              <a:rPr sz="127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Serve</a:t>
            </a:r>
            <a:r>
              <a:rPr sz="127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— locked P5 evaluation → risk banding → web dashboard.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E6FB5461-00D8-24D8-D0A0-BD98F40612EA}"/>
              </a:ext>
            </a:extLst>
          </p:cNvPr>
          <p:cNvSpPr txBox="1">
            <a:spLocks/>
          </p:cNvSpPr>
          <p:nvPr/>
        </p:nvSpPr>
        <p:spPr>
          <a:xfrm>
            <a:off x="6232358" y="995680"/>
            <a:ext cx="5431322" cy="535838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vert="horz" lIns="91440" tIns="45720" rIns="91440" bIns="45720" rtlCol="0" wrap="square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sz="187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ML Methodology and Implementation Process</a:t>
            </a:r>
          </a:p>
        </p:txBody>
      </p:sp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C42911C6-4047-D019-EA7D-28985C058142}"/>
              </a:ext>
            </a:extLst>
          </p:cNvPr>
          <p:cNvSpPr txBox="1">
            <a:spLocks/>
          </p:cNvSpPr>
          <p:nvPr/>
        </p:nvSpPr>
        <p:spPr>
          <a:xfrm>
            <a:off x="528320" y="3401568"/>
            <a:ext cx="5431322" cy="295351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vert="horz" lIns="91440" tIns="45720" rIns="91440" bIns="45720" rtlCol="0" wrap="square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sz="187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Technology Stack</a:t>
            </a:r>
          </a:p>
          <a:p>
            <a:pPr marL="201168" indent="-201168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127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•  </a:t>
            </a:r>
            <a:r>
              <a:rPr sz="127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Python 3.12</a:t>
            </a:r>
            <a:r>
              <a:rPr sz="127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· scikit-learn </a:t>
            </a:r>
            <a:r>
              <a:rPr sz="127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1.8.0</a:t>
            </a:r>
            <a:r>
              <a:rPr sz="127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· NumPy · pandas · SciPy · joblib · matplotlib</a:t>
            </a:r>
          </a:p>
          <a:p>
            <a:pPr marL="201168" indent="-201168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127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•  </a:t>
            </a:r>
            <a:r>
              <a:rPr sz="127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Pipeline:</a:t>
            </a:r>
            <a:r>
              <a:rPr sz="127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signed-log → median imputer → StandardScaler → Logistic Regression (L2, class-balanced)</a:t>
            </a:r>
          </a:p>
          <a:p>
            <a:pPr marL="201168" indent="-201168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127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•  </a:t>
            </a:r>
            <a:r>
              <a:rPr sz="127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Dashboard:</a:t>
            </a:r>
            <a:r>
              <a:rPr sz="127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HTML / CSS / vanilla JavaScript — the fitted model is re-run in the browser and agrees with scikit-learn to 1e-6</a:t>
            </a:r>
          </a:p>
          <a:p>
            <a:pPr marL="201168" indent="-201168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127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•  </a:t>
            </a:r>
            <a:r>
              <a:rPr sz="127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Testing:</a:t>
            </a:r>
            <a:r>
              <a:rPr sz="127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pytest (202 tests), Playwright headless browser, Ruff + Black</a:t>
            </a:r>
          </a:p>
          <a:p>
            <a:pPr marL="201168" indent="-201168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127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•  </a:t>
            </a:r>
            <a:r>
              <a:rPr sz="127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Reproducibility:</a:t>
            </a:r>
            <a:r>
              <a:rPr sz="127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one command — python -m solarflare all — running 375 metric checks and 397 consistency checks</a:t>
            </a:r>
          </a:p>
        </p:txBody>
      </p:sp>
      <p:pic>
        <p:nvPicPr>
          <p:cNvPr id="18" name="Picture 17" descr="architecture_flo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49440" y="1554480"/>
            <a:ext cx="4005072" cy="4443983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6327648" y="5998464"/>
            <a:ext cx="5248656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buNone/>
            </a:pPr>
            <a:r>
              <a:rPr sz="990" b="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Figure 4.1 — implemented end-to-end forecasting architecture.</a:t>
            </a:r>
          </a:p>
        </p:txBody>
      </p:sp>
    </p:spTree>
    <p:extLst>
      <p:ext uri="{BB962C8B-B14F-4D97-AF65-F5344CB8AC3E}">
        <p14:creationId xmlns:p14="http://schemas.microsoft.com/office/powerpoint/2010/main" val="168817984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6618C8-1A4F-EFB9-CA30-2991461575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240AA7-ACBA-6CC8-C67C-FB16D1F504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447675"/>
          </a:xfrm>
          <a:solidFill>
            <a:schemeClr val="bg1"/>
          </a:solidFill>
        </p:spPr>
        <p:txBody>
          <a:bodyPr>
            <a:noAutofit/>
          </a:bodyPr>
          <a:lstStyle/>
          <a:p>
            <a:pPr algn="ctr"/>
            <a:r>
              <a:rPr lang="en-IN" sz="32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/>
                <a:cs typeface="Times New Roman"/>
              </a:rPr>
              <a:t> </a:t>
            </a:r>
            <a:r>
              <a:rPr lang="en-IN" sz="3200" b="1" dirty="0">
                <a:solidFill>
                  <a:srgbClr val="000000"/>
                </a:solidFill>
                <a:latin typeface="Times New Roman" panose="02020603050405020304" pitchFamily="18" charset="0"/>
                <a:ea typeface="Times New Roman"/>
                <a:cs typeface="Times New Roman"/>
              </a:rPr>
              <a:t>Feasibility, Risk and Challenges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C1E70550-5F49-E002-6AE3-6E645A7FBE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EE2AE5-9218-4A07-842F-E84162EAAD55}" type="slidenum">
              <a:rPr lang="en-IN" smtClean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5</a:t>
            </a:fld>
            <a:endParaRPr lang="en-IN" dirty="0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ED383AF-943A-AF13-9532-2E72477633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Date: 07/10/2026</a:t>
            </a:r>
            <a:endParaRPr lang="en-IN" dirty="0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1CF922E5-3869-BACF-D57D-A6E439B7C48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899" t="4596" r="67470" b="9539"/>
          <a:stretch>
            <a:fillRect/>
          </a:stretch>
        </p:blipFill>
        <p:spPr>
          <a:xfrm>
            <a:off x="10639226" y="87932"/>
            <a:ext cx="1429148" cy="907748"/>
          </a:xfrm>
          <a:prstGeom prst="rect">
            <a:avLst/>
          </a:prstGeom>
        </p:spPr>
      </p:pic>
      <p:sp>
        <p:nvSpPr>
          <p:cNvPr id="10" name="Footer Placeholder 17">
            <a:extLst>
              <a:ext uri="{FF2B5EF4-FFF2-40B4-BE49-F238E27FC236}">
                <a16:creationId xmlns:a16="http://schemas.microsoft.com/office/drawing/2014/main" id="{6DD06387-97D0-39D2-34A2-A189B9C875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II–Year PBL Project Final Review</a:t>
            </a:r>
            <a:endParaRPr lang="en-IN" dirty="0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A1C04632-2C25-41CF-16BF-7E21BD7B277A}"/>
              </a:ext>
            </a:extLst>
          </p:cNvPr>
          <p:cNvSpPr txBox="1">
            <a:spLocks/>
          </p:cNvSpPr>
          <p:nvPr/>
        </p:nvSpPr>
        <p:spPr>
          <a:xfrm>
            <a:off x="528320" y="995680"/>
            <a:ext cx="5431322" cy="233172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vert="horz" lIns="91440" tIns="45720" rIns="91440" bIns="45720" rtlCol="0" wrap="square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sz="187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Feasibility</a:t>
            </a:r>
          </a:p>
          <a:p>
            <a:pPr marL="201168" indent="-201168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132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•  </a:t>
            </a:r>
            <a:r>
              <a:rPr sz="132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Data</a:t>
            </a:r>
            <a:r>
              <a:rPr sz="132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— a public, curated benchmark; no licence barrier and no collection cost.</a:t>
            </a:r>
          </a:p>
          <a:p>
            <a:pPr marL="201168" indent="-201168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132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•  </a:t>
            </a:r>
            <a:r>
              <a:rPr sz="132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Compute</a:t>
            </a:r>
            <a:r>
              <a:rPr sz="132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— the full pipeline trains in about 15 minutes on a 4-core laptop. No GPU is required.</a:t>
            </a:r>
          </a:p>
          <a:p>
            <a:pPr marL="201168" indent="-201168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132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•  </a:t>
            </a:r>
            <a:r>
              <a:rPr sz="132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Deployment</a:t>
            </a:r>
            <a:r>
              <a:rPr sz="132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— the model is 144 coefficients, so it runs inside a browser tab with the network switched off.</a:t>
            </a:r>
          </a:p>
          <a:p>
            <a:pPr marL="201168" indent="-201168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132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•  </a:t>
            </a:r>
            <a:r>
              <a:rPr sz="132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Verification</a:t>
            </a:r>
            <a:r>
              <a:rPr sz="132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— every published number recomputes from the repository in about two minutes.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B287D6E2-D2A8-8A09-D852-F8844378CEC8}"/>
              </a:ext>
            </a:extLst>
          </p:cNvPr>
          <p:cNvSpPr txBox="1">
            <a:spLocks/>
          </p:cNvSpPr>
          <p:nvPr/>
        </p:nvSpPr>
        <p:spPr>
          <a:xfrm>
            <a:off x="6232358" y="995680"/>
            <a:ext cx="5431322" cy="535838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vert="horz" lIns="91440" tIns="45720" rIns="91440" bIns="45720" rtlCol="0" wrap="square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sz="187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Risk and Challenges</a:t>
            </a:r>
          </a:p>
          <a:p>
            <a:pPr marL="201168" indent="-201168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121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•  </a:t>
            </a:r>
            <a:r>
              <a:rPr sz="121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Severe class imbalance.</a:t>
            </a:r>
            <a:r>
              <a:rPr sz="121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Positives are 1.3–2.0 % of windows, so accuracy is misleading and naive training learns to answer “no flare” always.</a:t>
            </a:r>
          </a:p>
          <a:p>
            <a:pPr marL="201168" indent="-201168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121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•  </a:t>
            </a:r>
            <a:r>
              <a:rPr sz="121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Data leakage is the dominant failure mode</a:t>
            </a:r>
            <a:r>
              <a:rPr sz="121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in flare forecasting: overlapping windows and shuffled splits inflate published results.</a:t>
            </a:r>
          </a:p>
          <a:p>
            <a:pPr marL="201168" indent="-201168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121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•  </a:t>
            </a:r>
            <a:r>
              <a:rPr sz="121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Low precision.</a:t>
            </a:r>
            <a:r>
              <a:rPr sz="121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At the operating point, </a:t>
            </a:r>
            <a:r>
              <a:rPr sz="121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84 %</a:t>
            </a:r>
            <a:r>
              <a:rPr sz="121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of alerts are not followed by a major flare.</a:t>
            </a:r>
          </a:p>
          <a:p>
            <a:pPr marL="201168" indent="-201168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121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•  </a:t>
            </a:r>
            <a:r>
              <a:rPr sz="121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Outputs are not calibrated probabilities</a:t>
            </a:r>
            <a:r>
              <a:rPr sz="121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— they rank well but must not be read as literal chances.</a:t>
            </a:r>
          </a:p>
          <a:p>
            <a:pPr marL="201168" indent="-201168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121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•  </a:t>
            </a:r>
            <a:r>
              <a:rPr sz="121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Two raw partition archives (P2, P5) are corrupt</a:t>
            </a:r>
            <a:r>
              <a:rPr sz="121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gzip streams that fail silently mid-stream rather than raising an error.</a:t>
            </a:r>
          </a:p>
          <a:p>
            <a:pPr marL="201168" indent="-201168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121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•  </a:t>
            </a:r>
            <a:r>
              <a:rPr sz="121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Retraining is not bit-identical</a:t>
            </a:r>
            <a:r>
              <a:rPr sz="121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across platforms.</a:t>
            </a:r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4BEEC87A-A354-40E4-44C7-0E984250BF0A}"/>
              </a:ext>
            </a:extLst>
          </p:cNvPr>
          <p:cNvSpPr txBox="1">
            <a:spLocks/>
          </p:cNvSpPr>
          <p:nvPr/>
        </p:nvSpPr>
        <p:spPr>
          <a:xfrm>
            <a:off x="528320" y="3438144"/>
            <a:ext cx="5431322" cy="291693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vert="horz" lIns="91440" tIns="45720" rIns="91440" bIns="45720" rtlCol="0" wrap="square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sz="187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Mitigation</a:t>
            </a:r>
          </a:p>
          <a:p>
            <a:pPr marL="201168" indent="-201168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127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•  </a:t>
            </a:r>
            <a:r>
              <a:rPr sz="127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Class weighting plus </a:t>
            </a:r>
            <a:r>
              <a:rPr sz="127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TSS / PR-AUC / HSS2</a:t>
            </a:r>
            <a:r>
              <a:rPr sz="127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reporting, with a climatology baseline for context, instead of accuracy.</a:t>
            </a:r>
          </a:p>
          <a:p>
            <a:pPr marL="201168" indent="-201168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127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•  </a:t>
            </a:r>
            <a:r>
              <a:rPr sz="127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Region-disjoint chronological splits, preprocessing fitted on train only, thresholds from validation only — enforced by </a:t>
            </a:r>
            <a:r>
              <a:rPr sz="127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21 automated leakage tests.</a:t>
            </a:r>
          </a:p>
          <a:p>
            <a:pPr marL="201168" indent="-201168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127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•  </a:t>
            </a:r>
            <a:r>
              <a:rPr sz="127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Precision is published rather than hidden, and an operating-point view exposes the trade-off. </a:t>
            </a:r>
            <a:r>
              <a:rPr sz="127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78 %</a:t>
            </a:r>
            <a:r>
              <a:rPr sz="127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of the false alarms did precede a real B- or C-class flare.</a:t>
            </a:r>
          </a:p>
          <a:p>
            <a:pPr marL="201168" indent="-201168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127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•  </a:t>
            </a:r>
            <a:r>
              <a:rPr sz="127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Archive integrity is verified before extraction; frozen artefacts are committed and write-protected in code.</a:t>
            </a:r>
          </a:p>
        </p:txBody>
      </p:sp>
      <p:pic>
        <p:nvPicPr>
          <p:cNvPr id="16" name="Picture 15" descr="d_opera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83096" y="3877056"/>
            <a:ext cx="4937760" cy="933845"/>
          </a:xfrm>
          <a:prstGeom prst="rect">
            <a:avLst/>
          </a:prstGeom>
          <a:ln w="9525">
            <a:solidFill>
              <a:srgbClr val="000000"/>
            </a:solidFill>
          </a:ln>
        </p:spPr>
      </p:pic>
      <p:sp>
        <p:nvSpPr>
          <p:cNvPr id="17" name="TextBox 16"/>
          <p:cNvSpPr txBox="1"/>
          <p:nvPr/>
        </p:nvSpPr>
        <p:spPr>
          <a:xfrm>
            <a:off x="6483096" y="4828032"/>
            <a:ext cx="493776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buNone/>
            </a:pPr>
            <a:r>
              <a:rPr sz="1050" b="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Moving the threshold shows what each choice costs.</a:t>
            </a:r>
          </a:p>
        </p:txBody>
      </p:sp>
      <p:pic>
        <p:nvPicPr>
          <p:cNvPr id="18" name="Picture 17" descr="d_ris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83096" y="5084064"/>
            <a:ext cx="4937760" cy="1001980"/>
          </a:xfrm>
          <a:prstGeom prst="rect">
            <a:avLst/>
          </a:prstGeom>
          <a:ln w="9525">
            <a:solidFill>
              <a:srgbClr val="000000"/>
            </a:solidFill>
          </a:ln>
        </p:spPr>
      </p:pic>
      <p:sp>
        <p:nvSpPr>
          <p:cNvPr id="19" name="TextBox 18"/>
          <p:cNvSpPr txBox="1"/>
          <p:nvPr/>
        </p:nvSpPr>
        <p:spPr>
          <a:xfrm>
            <a:off x="6483096" y="6099048"/>
            <a:ext cx="493776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buNone/>
            </a:pPr>
            <a:r>
              <a:rPr sz="1050" b="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An uncalibrated probability is delivered as a three-level band.</a:t>
            </a:r>
          </a:p>
        </p:txBody>
      </p:sp>
    </p:spTree>
    <p:extLst>
      <p:ext uri="{BB962C8B-B14F-4D97-AF65-F5344CB8AC3E}">
        <p14:creationId xmlns:p14="http://schemas.microsoft.com/office/powerpoint/2010/main" val="89303888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3B97E5-D400-46AE-AE05-98F3D3664E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F03512-77FF-BCD5-5958-FBFA0FD121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447675"/>
          </a:xfrm>
          <a:solidFill>
            <a:schemeClr val="bg1"/>
          </a:solidFill>
        </p:spPr>
        <p:txBody>
          <a:bodyPr>
            <a:noAutofit/>
          </a:bodyPr>
          <a:lstStyle/>
          <a:p>
            <a:pPr algn="ctr"/>
            <a:r>
              <a:rPr lang="en-IN" sz="32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/>
                <a:cs typeface="Times New Roman"/>
              </a:rPr>
              <a:t> </a:t>
            </a:r>
            <a:r>
              <a:rPr lang="en-IN" sz="3200" b="1" dirty="0">
                <a:solidFill>
                  <a:srgbClr val="000000"/>
                </a:solidFill>
                <a:latin typeface="Times New Roman" panose="02020603050405020304" pitchFamily="18" charset="0"/>
                <a:ea typeface="Times New Roman"/>
                <a:cs typeface="Times New Roman"/>
              </a:rPr>
              <a:t>Result and Applications 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67D2D4A5-60AA-677E-EC4C-E20C7280E1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EE2AE5-9218-4A07-842F-E84162EAAD55}" type="slidenum">
              <a:rPr lang="en-IN" smtClean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6</a:t>
            </a:fld>
            <a:endParaRPr lang="en-IN" dirty="0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283DF96-CDCE-6198-A813-9DB585D268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Date: 07/10/2026</a:t>
            </a:r>
            <a:endParaRPr lang="en-IN" dirty="0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146D0B08-F462-E519-F15E-E0BEB7ABC6D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899" t="4596" r="67470" b="9539"/>
          <a:stretch>
            <a:fillRect/>
          </a:stretch>
        </p:blipFill>
        <p:spPr>
          <a:xfrm>
            <a:off x="10639226" y="87932"/>
            <a:ext cx="1429148" cy="907748"/>
          </a:xfrm>
          <a:prstGeom prst="rect">
            <a:avLst/>
          </a:prstGeom>
        </p:spPr>
      </p:pic>
      <p:sp>
        <p:nvSpPr>
          <p:cNvPr id="10" name="Footer Placeholder 17">
            <a:extLst>
              <a:ext uri="{FF2B5EF4-FFF2-40B4-BE49-F238E27FC236}">
                <a16:creationId xmlns:a16="http://schemas.microsoft.com/office/drawing/2014/main" id="{C0015C01-C564-94FA-3121-AFE7427CA3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II–Year PBL Project Final Review</a:t>
            </a:r>
            <a:endParaRPr lang="en-IN" dirty="0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EE1DBB35-58EA-739D-2CD4-B03EDDE7BA67}"/>
              </a:ext>
            </a:extLst>
          </p:cNvPr>
          <p:cNvSpPr txBox="1">
            <a:spLocks/>
          </p:cNvSpPr>
          <p:nvPr/>
        </p:nvSpPr>
        <p:spPr>
          <a:xfrm>
            <a:off x="528320" y="969264"/>
            <a:ext cx="11135360" cy="413308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vert="horz" lIns="91440" tIns="45720" rIns="91440" bIns="45720" rtlCol="0" wrap="square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sz="187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Project Output  —  interactive dashboard, evaluated on 75,365 unseen windows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D9EE1A65-5554-8149-DD9A-F4A84BC9A521}"/>
              </a:ext>
            </a:extLst>
          </p:cNvPr>
          <p:cNvSpPr txBox="1">
            <a:spLocks/>
          </p:cNvSpPr>
          <p:nvPr/>
        </p:nvSpPr>
        <p:spPr>
          <a:xfrm>
            <a:off x="528320" y="5157216"/>
            <a:ext cx="11135360" cy="104241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vert="horz" lIns="91440" tIns="45720" rIns="91440" bIns="45720" rtlCol="0" wrap="square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sz="176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Applications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None/>
            </a:pPr>
            <a:r>
              <a:rPr sz="132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Satellite operations (safe-mode and manoeuvre scheduling) · Polar-route aviation (HF-radio and radiation planning) · Power-grid readiness against geomagnetically induced currents · Launch and spacewalk scheduling · Space-agency situational awareness · A teaching benchmark for severely imbalanced time-series forecasting.</a:t>
            </a:r>
          </a:p>
        </p:txBody>
      </p:sp>
      <p:pic>
        <p:nvPicPr>
          <p:cNvPr id="12" name="Picture 11" descr="d_eval_kpi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3504" y="1389888"/>
            <a:ext cx="10991088" cy="785077"/>
          </a:xfrm>
          <a:prstGeom prst="rect">
            <a:avLst/>
          </a:prstGeom>
        </p:spPr>
      </p:pic>
      <p:pic>
        <p:nvPicPr>
          <p:cNvPr id="13" name="Picture 12" descr="d_repla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3504" y="2304288"/>
            <a:ext cx="7132320" cy="1858339"/>
          </a:xfrm>
          <a:prstGeom prst="rect">
            <a:avLst/>
          </a:prstGeom>
          <a:ln w="9525">
            <a:solidFill>
              <a:srgbClr val="000000"/>
            </a:solidFill>
          </a:ln>
        </p:spPr>
      </p:pic>
      <p:pic>
        <p:nvPicPr>
          <p:cNvPr id="14" name="Picture 13" descr="d_confusion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36992" y="2532888"/>
            <a:ext cx="3657600" cy="1399142"/>
          </a:xfrm>
          <a:prstGeom prst="rect">
            <a:avLst/>
          </a:prstGeom>
          <a:ln w="9525">
            <a:solidFill>
              <a:srgbClr val="000000"/>
            </a:solidFill>
          </a:ln>
        </p:spPr>
      </p:pic>
      <p:sp>
        <p:nvSpPr>
          <p:cNvPr id="15" name="TextBox 14"/>
          <p:cNvSpPr txBox="1"/>
          <p:nvPr/>
        </p:nvSpPr>
        <p:spPr>
          <a:xfrm>
            <a:off x="603504" y="4206240"/>
            <a:ext cx="713232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buNone/>
            </a:pPr>
            <a:r>
              <a:rPr sz="990" b="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Replay of a real active region (HARP 7115, September 2017): the forecast crosses the alert threshold and stays high through the X1.3 flare.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36992" y="4206240"/>
            <a:ext cx="365760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buNone/>
            </a:pPr>
            <a:r>
              <a:rPr sz="990" b="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Confusion matrix on the locked test partition.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3504" y="4572000"/>
            <a:ext cx="10991088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sz="132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907 of 990</a:t>
            </a:r>
            <a:r>
              <a:rPr sz="132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flare-producing windows were caught (</a:t>
            </a:r>
            <a:r>
              <a:rPr sz="132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recall 0.916</a:t>
            </a:r>
            <a:r>
              <a:rPr sz="132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, 95 % CI 0.812–0.976), including </a:t>
            </a:r>
            <a:r>
              <a:rPr sz="132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19 of 19 X-class windows</a:t>
            </a:r>
            <a:r>
              <a:rPr sz="132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, at a false-alarm rate of </a:t>
            </a:r>
            <a:r>
              <a:rPr sz="132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0.063</a:t>
            </a:r>
            <a:r>
              <a:rPr sz="132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. Precision is </a:t>
            </a:r>
            <a:r>
              <a:rPr sz="132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0.162</a:t>
            </a:r>
            <a:r>
              <a:rPr sz="132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— shown, not hidden.</a:t>
            </a:r>
          </a:p>
        </p:txBody>
      </p:sp>
    </p:spTree>
    <p:extLst>
      <p:ext uri="{BB962C8B-B14F-4D97-AF65-F5344CB8AC3E}">
        <p14:creationId xmlns:p14="http://schemas.microsoft.com/office/powerpoint/2010/main" val="362005462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2361FE-0713-93E6-DB86-E79648324A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04127E-C73E-C2B8-523A-E1BCE6D63F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447675"/>
          </a:xfrm>
          <a:solidFill>
            <a:schemeClr val="bg1"/>
          </a:solidFill>
        </p:spPr>
        <p:txBody>
          <a:bodyPr>
            <a:noAutofit/>
          </a:bodyPr>
          <a:lstStyle/>
          <a:p>
            <a:pPr algn="ctr"/>
            <a:r>
              <a:rPr lang="en-IN" sz="3200" b="1" dirty="0">
                <a:solidFill>
                  <a:srgbClr val="000000"/>
                </a:solidFill>
                <a:latin typeface="Times New Roman" panose="02020603050405020304" pitchFamily="18" charset="0"/>
                <a:ea typeface="Times New Roman"/>
                <a:cs typeface="Times New Roman"/>
              </a:rPr>
              <a:t>Conclusion, Limitations &amp; Future Scope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D072919A-FB09-BDBD-EB1B-AC9C345A3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EE2AE5-9218-4A07-842F-E84162EAAD55}" type="slidenum">
              <a:rPr lang="en-IN" smtClean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7</a:t>
            </a:fld>
            <a:endParaRPr lang="en-IN" dirty="0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7532C21-FD78-2AEE-FF81-92AB93C97F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Date: 07/10/2026</a:t>
            </a:r>
            <a:endParaRPr lang="en-IN" dirty="0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03F0DB14-E55E-F110-C797-B68990B5751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899" t="4596" r="67470" b="9539"/>
          <a:stretch>
            <a:fillRect/>
          </a:stretch>
        </p:blipFill>
        <p:spPr>
          <a:xfrm>
            <a:off x="10639226" y="87932"/>
            <a:ext cx="1429148" cy="907748"/>
          </a:xfrm>
          <a:prstGeom prst="rect">
            <a:avLst/>
          </a:prstGeom>
        </p:spPr>
      </p:pic>
      <p:sp>
        <p:nvSpPr>
          <p:cNvPr id="10" name="Footer Placeholder 17">
            <a:extLst>
              <a:ext uri="{FF2B5EF4-FFF2-40B4-BE49-F238E27FC236}">
                <a16:creationId xmlns:a16="http://schemas.microsoft.com/office/drawing/2014/main" id="{28924AA9-C1C9-5F20-B7B4-5C66E415C4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II–Year PBL Project Final Review</a:t>
            </a:r>
            <a:endParaRPr lang="en-IN" dirty="0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D9DE962E-8FA1-1659-E5F2-3EBFA857DF56}"/>
              </a:ext>
            </a:extLst>
          </p:cNvPr>
          <p:cNvSpPr txBox="1">
            <a:spLocks/>
          </p:cNvSpPr>
          <p:nvPr/>
        </p:nvSpPr>
        <p:spPr>
          <a:xfrm>
            <a:off x="528320" y="995680"/>
            <a:ext cx="11135360" cy="219456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vert="horz" lIns="91440" tIns="45720" rIns="91440" bIns="45720" rtlCol="0" wrap="square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sz="187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Conclusion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None/>
            </a:pPr>
            <a:r>
              <a:rPr sz="138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We developed a </a:t>
            </a:r>
            <a:r>
              <a:rPr sz="138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leakage-safe machine-learning pipeline</a:t>
            </a:r>
            <a:r>
              <a:rPr sz="138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using SWAN-SF SHARP magnetic-field parameters to forecast major (M/X-class) solar flares </a:t>
            </a:r>
            <a:r>
              <a:rPr sz="138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24 hours in advance.</a:t>
            </a:r>
            <a:r>
              <a:rPr sz="138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Seven candidate models were trained on 204,559 windows and compared on a separate validation partition; the selected model — </a:t>
            </a:r>
            <a:r>
              <a:rPr sz="138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L2-regularised Logistic Regression on temporal features</a:t>
            </a:r>
            <a:r>
              <a:rPr sz="138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— was then scored </a:t>
            </a:r>
            <a:r>
              <a:rPr sz="138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once</a:t>
            </a:r>
            <a:r>
              <a:rPr sz="138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on 75,365 windows it had never seen.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None/>
            </a:pPr>
            <a:r>
              <a:rPr sz="138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It achieved a </a:t>
            </a:r>
            <a:r>
              <a:rPr sz="138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True Skill Statistic of 0.853</a:t>
            </a:r>
            <a:r>
              <a:rPr sz="138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(95 % CI 0.751–0.915), detecting </a:t>
            </a:r>
            <a:r>
              <a:rPr sz="138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907 of 990</a:t>
            </a:r>
            <a:r>
              <a:rPr sz="138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flare-producing windows — </a:t>
            </a:r>
            <a:r>
              <a:rPr sz="138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91.6 % recall</a:t>
            </a:r>
            <a:r>
              <a:rPr sz="138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, and </a:t>
            </a:r>
            <a:r>
              <a:rPr sz="138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all 19 X-class windows</a:t>
            </a:r>
            <a:r>
              <a:rPr sz="138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— at a false-alarm rate of 0.063 and </a:t>
            </a:r>
            <a:r>
              <a:rPr sz="138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ROC-AUC 0.979</a:t>
            </a:r>
            <a:r>
              <a:rPr sz="138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.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None/>
            </a:pPr>
            <a:r>
              <a:rPr sz="138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Every published number recomputes from the repository with a single command, and the project ships an interactive dashboard that runs the real trained model in the browser.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A7714C8B-8CE9-ACE7-94F1-0BFA4EB5B338}"/>
              </a:ext>
            </a:extLst>
          </p:cNvPr>
          <p:cNvSpPr txBox="1">
            <a:spLocks/>
          </p:cNvSpPr>
          <p:nvPr/>
        </p:nvSpPr>
        <p:spPr>
          <a:xfrm>
            <a:off x="6232358" y="3310128"/>
            <a:ext cx="5431322" cy="304495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vert="horz" lIns="91440" tIns="45720" rIns="91440" bIns="45720" rtlCol="0" wrap="square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sz="187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Future Scope</a:t>
            </a:r>
          </a:p>
          <a:p>
            <a:pPr marL="201168" indent="-201168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127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•  </a:t>
            </a:r>
            <a:r>
              <a:rPr sz="127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Probability calibration</a:t>
            </a:r>
            <a:r>
              <a:rPr sz="127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on a held-out year, so the output can be read as a genuine chance.</a:t>
            </a:r>
          </a:p>
          <a:p>
            <a:pPr marL="201168" indent="-201168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127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•  </a:t>
            </a:r>
            <a:r>
              <a:rPr sz="127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Sequence models</a:t>
            </a:r>
            <a:r>
              <a:rPr sz="127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(LSTM / Transformer) on the raw 60-step series instead of summary statistics.</a:t>
            </a:r>
          </a:p>
          <a:p>
            <a:pPr marL="201168" indent="-201168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127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•  </a:t>
            </a:r>
            <a:r>
              <a:rPr sz="127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Extend to </a:t>
            </a:r>
            <a:r>
              <a:rPr sz="127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solar cycle 25</a:t>
            </a:r>
            <a:r>
              <a:rPr sz="127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(2019–present) and to other magnetograph instruments.</a:t>
            </a:r>
          </a:p>
          <a:p>
            <a:pPr marL="201168" indent="-201168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127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•  </a:t>
            </a:r>
            <a:r>
              <a:rPr sz="127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Add </a:t>
            </a:r>
            <a:r>
              <a:rPr sz="127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magnetogram imagery</a:t>
            </a:r>
            <a:r>
              <a:rPr sz="127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alongside the scalar SHARP parameters.</a:t>
            </a:r>
          </a:p>
          <a:p>
            <a:pPr marL="201168" indent="-201168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127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•  </a:t>
            </a:r>
            <a:r>
              <a:rPr sz="127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Cost-sensitive thresholds</a:t>
            </a:r>
            <a:r>
              <a:rPr sz="127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per user — a satellite operator and a power utility do not pay the same price for a miss.</a:t>
            </a:r>
          </a:p>
          <a:p>
            <a:pPr marL="201168" indent="-201168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127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•  </a:t>
            </a:r>
            <a:r>
              <a:rPr sz="127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Ingest a </a:t>
            </a:r>
            <a:r>
              <a:rPr sz="127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live SHARP feed</a:t>
            </a:r>
            <a:r>
              <a:rPr sz="127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to move from prototype toward an operational service.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A053D1FB-4EE1-2E64-D1C8-8DCF2C5E10E8}"/>
              </a:ext>
            </a:extLst>
          </p:cNvPr>
          <p:cNvSpPr txBox="1">
            <a:spLocks/>
          </p:cNvSpPr>
          <p:nvPr/>
        </p:nvSpPr>
        <p:spPr>
          <a:xfrm>
            <a:off x="528320" y="3310128"/>
            <a:ext cx="5431322" cy="304495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vert="horz" lIns="91440" tIns="45720" rIns="91440" bIns="45720" rtlCol="0" wrap="square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sz="187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Limitations</a:t>
            </a:r>
          </a:p>
          <a:p>
            <a:pPr marL="201168" indent="-201168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127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•  </a:t>
            </a:r>
            <a:r>
              <a:rPr sz="127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Precision is 0.162</a:t>
            </a:r>
            <a:r>
              <a:rPr sz="127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— 84 % of alerts are not followed by an M/X flare (though 78 % do precede a smaller B/C flare).</a:t>
            </a:r>
          </a:p>
          <a:p>
            <a:pPr marL="201168" indent="-201168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127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•  </a:t>
            </a:r>
            <a:r>
              <a:rPr sz="127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Outputs rank well but are </a:t>
            </a:r>
            <a:r>
              <a:rPr sz="127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not calibrated</a:t>
            </a:r>
            <a:r>
              <a:rPr sz="127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— they are not literal chances.</a:t>
            </a:r>
          </a:p>
          <a:p>
            <a:pPr marL="201168" indent="-201168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127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•  </a:t>
            </a:r>
            <a:r>
              <a:rPr sz="127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One instrument, one span:</a:t>
            </a:r>
            <a:r>
              <a:rPr sz="127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SDO/HMI, 2010–2018. No validation beyond 2018 or on other instruments.</a:t>
            </a:r>
          </a:p>
          <a:p>
            <a:pPr marL="201168" indent="-201168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127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•  </a:t>
            </a:r>
            <a:r>
              <a:rPr sz="127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Only </a:t>
            </a:r>
            <a:r>
              <a:rPr sz="127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19 X-class windows</a:t>
            </a:r>
            <a:r>
              <a:rPr sz="127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in the test set, so that recall carries a wide interval.</a:t>
            </a:r>
          </a:p>
          <a:p>
            <a:pPr marL="201168" indent="-201168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127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•  </a:t>
            </a:r>
            <a:r>
              <a:rPr sz="127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Two raw archives are corrupt; results rest on the previously extracted features.</a:t>
            </a:r>
          </a:p>
          <a:p>
            <a:pPr marL="201168" indent="-201168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127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•  </a:t>
            </a:r>
            <a:r>
              <a:rPr sz="127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From-scratch retraining is </a:t>
            </a:r>
            <a:r>
              <a:rPr sz="127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not bit-reproducible</a:t>
            </a:r>
            <a:r>
              <a:rPr sz="127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across platforms.</a:t>
            </a:r>
          </a:p>
        </p:txBody>
      </p:sp>
    </p:spTree>
    <p:extLst>
      <p:ext uri="{BB962C8B-B14F-4D97-AF65-F5344CB8AC3E}">
        <p14:creationId xmlns:p14="http://schemas.microsoft.com/office/powerpoint/2010/main" val="58077019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BB6885-6B9A-270E-D011-C6195CEF01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5B7B8957-8828-E623-0D1B-083069FECC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EE2AE5-9218-4A07-842F-E84162EAAD55}" type="slidenum">
              <a:rPr lang="en-IN" smtClean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8</a:t>
            </a:fld>
            <a:endParaRPr lang="en-IN" dirty="0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15" name="Subtitle 2">
            <a:extLst>
              <a:ext uri="{FF2B5EF4-FFF2-40B4-BE49-F238E27FC236}">
                <a16:creationId xmlns:a16="http://schemas.microsoft.com/office/drawing/2014/main" id="{3648C33D-8B31-6B82-2E8D-DC4C841DE344}"/>
              </a:ext>
            </a:extLst>
          </p:cNvPr>
          <p:cNvSpPr txBox="1">
            <a:spLocks/>
          </p:cNvSpPr>
          <p:nvPr/>
        </p:nvSpPr>
        <p:spPr>
          <a:xfrm>
            <a:off x="3814663" y="5210996"/>
            <a:ext cx="4562669" cy="879298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 wrap="square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None/>
              <a:defRPr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9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Madhavan G   ·   Sriram Sivakumar</a:t>
            </a:r>
          </a:p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76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B.E. Computer Science and Engineering</a:t>
            </a:r>
          </a:p>
        </p:txBody>
      </p:sp>
      <p:sp>
        <p:nvSpPr>
          <p:cNvPr id="18" name="Date Placeholder 17">
            <a:extLst>
              <a:ext uri="{FF2B5EF4-FFF2-40B4-BE49-F238E27FC236}">
                <a16:creationId xmlns:a16="http://schemas.microsoft.com/office/drawing/2014/main" id="{2A3C68FE-708A-E575-2346-D66B76F28E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Date: 07/10/2026</a:t>
            </a:r>
            <a:endParaRPr lang="en-IN" dirty="0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E233C03-9E8E-963B-6AEE-A6F08D165C4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8407" b="13744"/>
          <a:stretch>
            <a:fillRect/>
          </a:stretch>
        </p:blipFill>
        <p:spPr>
          <a:xfrm>
            <a:off x="2746625" y="136525"/>
            <a:ext cx="6698746" cy="133306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16DAC499-8CE4-9EB6-4C6F-AF24243B97F6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04988" y="1646945"/>
            <a:ext cx="4782020" cy="3386700"/>
          </a:xfrm>
          <a:prstGeom prst="rect">
            <a:avLst/>
          </a:prstGeom>
        </p:spPr>
      </p:pic>
      <p:sp>
        <p:nvSpPr>
          <p:cNvPr id="10" name="Footer Placeholder 17">
            <a:extLst>
              <a:ext uri="{FF2B5EF4-FFF2-40B4-BE49-F238E27FC236}">
                <a16:creationId xmlns:a16="http://schemas.microsoft.com/office/drawing/2014/main" id="{85787E0A-82D9-5CAB-8C09-1F3F24B08C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II–Year PBL Project Final Review</a:t>
            </a:r>
            <a:endParaRPr lang="en-IN" dirty="0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8918ED0-F7FD-61C4-5F6D-45B18985D959}"/>
              </a:ext>
            </a:extLst>
          </p:cNvPr>
          <p:cNvSpPr txBox="1"/>
          <p:nvPr/>
        </p:nvSpPr>
        <p:spPr>
          <a:xfrm>
            <a:off x="5105400" y="7513282"/>
            <a:ext cx="2241884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2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/>
                <a:cs typeface="Times New Roman"/>
              </a:rPr>
              <a:t>GitHub Repository</a:t>
            </a:r>
            <a:endParaRPr lang="en-IN" dirty="0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62006C30-F416-F103-AA83-A6555D710B62}"/>
              </a:ext>
            </a:extLst>
          </p:cNvPr>
          <p:cNvGrpSpPr/>
          <p:nvPr/>
        </p:nvGrpSpPr>
        <p:grpSpPr>
          <a:xfrm>
            <a:off x="702620" y="3285299"/>
            <a:ext cx="3014358" cy="1775255"/>
            <a:chOff x="702620" y="3285299"/>
            <a:chExt cx="3014358" cy="1775255"/>
          </a:xfrm>
        </p:grpSpPr>
        <p:pic>
          <p:nvPicPr>
            <p:cNvPr id="4" name="Picture 3" descr="Video - Free technology icons">
              <a:extLst>
                <a:ext uri="{FF2B5EF4-FFF2-40B4-BE49-F238E27FC236}">
                  <a16:creationId xmlns:a16="http://schemas.microsoft.com/office/drawing/2014/main" id="{20AF4B87-C09B-B0BF-63C8-DF3D52FD4665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705024" y="3285299"/>
              <a:ext cx="997561" cy="997561"/>
            </a:xfrm>
            <a:prstGeom prst="rect">
              <a:avLst/>
            </a:prstGeom>
          </p:spPr>
        </p:pic>
        <p:sp>
          <p:nvSpPr>
            <p:cNvPr id="13" name="Content Placeholder 2">
              <a:extLst>
                <a:ext uri="{FF2B5EF4-FFF2-40B4-BE49-F238E27FC236}">
                  <a16:creationId xmlns:a16="http://schemas.microsoft.com/office/drawing/2014/main" id="{B7369601-F94C-8283-5031-C1F98541F694}"/>
                </a:ext>
              </a:extLst>
            </p:cNvPr>
            <p:cNvSpPr txBox="1">
              <a:spLocks/>
            </p:cNvSpPr>
            <p:nvPr/>
          </p:nvSpPr>
          <p:spPr>
            <a:xfrm>
              <a:off x="702620" y="4181255"/>
              <a:ext cx="3014358" cy="879299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vert="horz" lIns="91440" tIns="45720" rIns="91440" bIns="45720" rtlCol="0" wrap="square" anchor="t">
              <a:norm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</a:defRPr>
              </a:lvl9pPr>
            </a:lstStyle>
            <a:p>
              <a:pPr marL="0" indent="0" algn="ctr">
                <a:lnSpc>
                  <a:spcPct val="100000"/>
                </a:lnSpc>
                <a:spcBef>
                  <a:spcPts val="0"/>
                </a:spcBef>
                <a:spcAft>
                  <a:spcPts val="400"/>
                </a:spcAft>
                <a:buNone/>
              </a:pPr>
              <a:r>
                <a:rPr sz="1540" b="1" i="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</a:rPr>
                <a:t>Project Video Link</a:t>
              </a:r>
              <a:endParaRPr lang="en-US" sz="2000" b="1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endParaRPr>
            </a:p>
            <a:p>
              <a:pPr marL="0" inden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sz="1210" b="0" i="1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</a:rPr>
                <a:t>&lt;paste the drive / YouTube URL of the voice-over demo here&gt;</a:t>
              </a:r>
            </a:p>
          </p:txBody>
        </p:sp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1EB63A19-86CA-308B-4F8B-37E96DFBBAB8}"/>
              </a:ext>
            </a:extLst>
          </p:cNvPr>
          <p:cNvGrpSpPr/>
          <p:nvPr/>
        </p:nvGrpSpPr>
        <p:grpSpPr>
          <a:xfrm>
            <a:off x="8475018" y="3344430"/>
            <a:ext cx="3014358" cy="1716124"/>
            <a:chOff x="8475018" y="3344430"/>
            <a:chExt cx="3014358" cy="1716124"/>
          </a:xfrm>
        </p:grpSpPr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6A4E5C56-C77A-1635-7CC4-71BC5FB9B0E0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9536553" y="3344430"/>
              <a:ext cx="879298" cy="879298"/>
            </a:xfrm>
            <a:prstGeom prst="rect">
              <a:avLst/>
            </a:prstGeom>
          </p:spPr>
        </p:pic>
        <p:sp>
          <p:nvSpPr>
            <p:cNvPr id="24" name="Content Placeholder 2">
              <a:extLst>
                <a:ext uri="{FF2B5EF4-FFF2-40B4-BE49-F238E27FC236}">
                  <a16:creationId xmlns:a16="http://schemas.microsoft.com/office/drawing/2014/main" id="{19622691-213E-2374-E58E-253554DF0409}"/>
                </a:ext>
              </a:extLst>
            </p:cNvPr>
            <p:cNvSpPr txBox="1">
              <a:spLocks/>
            </p:cNvSpPr>
            <p:nvPr/>
          </p:nvSpPr>
          <p:spPr>
            <a:xfrm>
              <a:off x="8475018" y="4181255"/>
              <a:ext cx="3014358" cy="879299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vert="horz" lIns="91440" tIns="45720" rIns="91440" bIns="45720" rtlCol="0" wrap="square" anchor="t">
              <a:norm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</a:defRPr>
              </a:lvl9pPr>
            </a:lstStyle>
            <a:p>
              <a:pPr marL="0" indent="0" algn="ctr">
                <a:lnSpc>
                  <a:spcPct val="100000"/>
                </a:lnSpc>
                <a:spcBef>
                  <a:spcPts val="0"/>
                </a:spcBef>
                <a:spcAft>
                  <a:spcPts val="400"/>
                </a:spcAft>
                <a:buNone/>
              </a:pPr>
              <a:r>
                <a:rPr sz="1540" b="1" i="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</a:rPr>
                <a:t>GitHub Repository Link</a:t>
              </a:r>
              <a:endParaRPr lang="en-US" sz="2000" b="1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endParaRPr>
            </a:p>
            <a:p>
              <a:pPr marL="0" inden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sz="1100" b="0" i="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</a:rPr>
                <a:t>https://github.com/Madhavan777/Solar-Flare-Prediction-System-Weather</a:t>
              </a:r>
            </a:p>
          </p:txBody>
        </p:sp>
      </p:grpSp>
      <p:pic>
        <p:nvPicPr>
          <p:cNvPr id="26" name="Picture 25" descr="qr_repo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619488" y="5138928"/>
            <a:ext cx="1051560" cy="1051560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9098280" y="6199632"/>
            <a:ext cx="210312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buNone/>
            </a:pPr>
            <a:r>
              <a:rPr sz="990" b="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Scan for the repository</a:t>
            </a:r>
          </a:p>
        </p:txBody>
      </p:sp>
    </p:spTree>
    <p:extLst>
      <p:ext uri="{BB962C8B-B14F-4D97-AF65-F5344CB8AC3E}">
        <p14:creationId xmlns:p14="http://schemas.microsoft.com/office/powerpoint/2010/main" val="371818096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1143</TotalTime>
  <Words>577</Words>
  <Application>Microsoft Office PowerPoint</Application>
  <PresentationFormat>Widescreen</PresentationFormat>
  <Paragraphs>104</Paragraphs>
  <Slides>8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Arial</vt:lpstr>
      <vt:lpstr>Calibri</vt:lpstr>
      <vt:lpstr>Calibri Light</vt:lpstr>
      <vt:lpstr>Times New Roman</vt:lpstr>
      <vt:lpstr>Office Theme</vt:lpstr>
      <vt:lpstr>CS3503 – Machine Learning PBL Project Review</vt:lpstr>
      <vt:lpstr>Problem &amp; Objectives</vt:lpstr>
      <vt:lpstr>Input, Analysis &amp; Insights</vt:lpstr>
      <vt:lpstr> Technical Approach</vt:lpstr>
      <vt:lpstr> Feasibility, Risk and Challenges</vt:lpstr>
      <vt:lpstr> Result and Applications </vt:lpstr>
      <vt:lpstr>Conclusion, Limitations &amp; Future Scope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ayeesha nasreen</dc:creator>
  <cp:lastModifiedBy>Pratham Verma</cp:lastModifiedBy>
  <cp:revision>16</cp:revision>
  <dcterms:created xsi:type="dcterms:W3CDTF">2025-03-10T15:11:33Z</dcterms:created>
  <dcterms:modified xsi:type="dcterms:W3CDTF">2026-09-24T06:06:07Z</dcterms:modified>
</cp:coreProperties>
</file>