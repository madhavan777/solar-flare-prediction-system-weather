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19" r:id="rId2"/>
    <p:sldId id="506" r:id="rId3"/>
    <p:sldId id="514" r:id="rId4"/>
    <p:sldId id="507" r:id="rId5"/>
    <p:sldId id="508" r:id="rId6"/>
    <p:sldId id="509" r:id="rId7"/>
    <p:sldId id="515" r:id="rId8"/>
    <p:sldId id="51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643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5EB6FF-ADAA-45C6-A825-247BBAE19742}" type="datetimeFigureOut">
              <a:rPr lang="en-IN" smtClean="0"/>
              <a:t>24-09-2026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A77BC4-17D5-4B3B-8254-CC862B6A5E2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998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A77BC4-17D5-4B3B-8254-CC862B6A5E2F}" type="slidenum">
              <a:rPr lang="en-IN" smtClean="0"/>
              <a:t>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29634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E602E-F900-9031-6AC8-73F10556E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4C2B61-6876-88B3-A5F9-7B829DA423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60275-ABCD-B29C-8C0A-6E4F2FD3E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F3498-F4F9-DB41-CD36-6A221BCB6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CE914-FBBD-92B9-9CA2-3F40FD1D7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6633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8DF1-C5BE-6796-70DE-A3F503A7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4492F-7D80-29C9-2308-5A8569C2D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3FDF3-E10C-A3F0-B98D-453E8083D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066F82-2042-C918-C81F-2F9B4F18B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9D627-19C3-DC54-7CD9-FA5500839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786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671E6-8C35-83BC-2B33-0655540CB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F6C37-AB34-25BE-12C1-AA65FCA8F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F8FFD-45F0-DD57-FE3C-9E076ACE2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A5514-393C-EFCE-01F9-B2CE001A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ACB48-3533-1C36-3514-71B63718C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2056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CD219-FA69-9CBF-FBDE-B710CFB8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158CF-DE11-9B79-12E3-5342CE5B61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2B980-E864-34A6-6906-C86638E18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A7FA1C-7B6A-BA75-B37B-195B0F573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97CB70-8B73-BAB9-8426-FDEFD7163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A51A4B-870D-163F-53D2-0AADE3398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2398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BA5A0-BB01-6BB8-C159-471001A90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476893-4A4F-426A-A5F6-626610F379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95C00F-0E53-D71D-782E-D740B83A1A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3FF82-8820-CCBF-411E-57C2C0FB43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AF392E-9590-423C-3F62-1B99F8ED7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51395E-14B8-3C49-B85F-5EE4C7A4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5F0EAD-79ED-31EE-A7B8-00CA48D0D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9BBB80-F93E-5FA1-B554-B865EFB6E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444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0E9A-C769-7BAB-77EC-E3DD0C871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9FE8A4-529A-DDB2-CFFE-2621FA72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97F48B-5C43-9F3A-55CC-A47A74EE7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BDCAC-FA44-2D60-C7FB-00EA9C2A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9546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7AFBC8-4429-3CF2-D7FD-013C843A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6F2463-4C84-38B5-C473-94DEDD337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4EB43-8F87-9269-D6F6-0FBA03253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3765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21E04-8BD9-6B68-FC0F-A711F6A8C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F50A1-7EB1-0089-AFE0-A0B4139BA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8D8750-631F-0F8E-8365-7236BB4F6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4EE415-B1A5-EF49-8E72-3A526EF2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4330E7-EC53-C9ED-DBB8-5B347D7F2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DCD15B-3E89-C907-AE04-8C7A74F28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7313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BBE34-C477-BD1D-5C4A-423A42EC4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98EAA-EB77-18BB-153B-3C2C17FD4C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F9DA39-FACA-F80B-5621-B93583F1D0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DF808F-D30B-9980-A54D-AF59385A3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D7B967-36B2-D49E-ACAA-62ED90179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779D1-E21D-CDFE-D44E-F0AE9A47E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5041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8ADA2-FAF6-FC43-216D-329339BBA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F6FCD0-243C-6296-B116-1BE620DC32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54B15-B895-3960-42A1-243C13660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702E8-C53E-4EA8-5371-E99E20C0B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1A6DE-5D9F-FF19-9DCE-40347D324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0322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0E82D7-F785-4947-1FAC-D31467C679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B5C0C9-4A27-BB0A-99C0-CD5C624AA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07FE6-F9D6-5313-31D3-3B456B3EC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C271F-B837-12E3-63A5-2BF92AF5D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47357-8C1B-DAF7-EA68-D7B300470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06426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18000"/>
            <a:lum/>
          </a:blip>
          <a:srcRect/>
          <a:stretch>
            <a:fillRect l="4000" t="15000" r="4000" b="1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500EC-1157-3044-AF8C-8BB8052A0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1158B8-89EE-6370-40DB-B55329201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0FA01-4EFB-2556-186F-6EDC8B37E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Date: DD/MM/YYYY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3A508-2D6B-F27D-0E75-55977FA039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II–Year PBL Project Review–II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9B5CE-202A-2084-F4FC-495F1B77B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EE2AE5-9218-4A07-842F-E84162EAAD5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9418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514759"/>
            <a:ext cx="10515600" cy="1137422"/>
          </a:xfrm>
          <a:noFill/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CS3503 – Machine Learning PBL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Review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695C9B8-2B8D-722A-D1E4-DB26ABC22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7253" y="4205820"/>
            <a:ext cx="4822502" cy="1747839"/>
          </a:xfrm>
          <a:noFill/>
        </p:spPr>
        <p:txBody>
          <a:bodyPr rtlCol="0" wrap="square" anchor="t">
            <a:normAutofit/>
          </a:bodyPr>
          <a:lstStyle/>
          <a:p>
            <a:pPr algn="just" eaLnBrk="1" fontAlgn="auto" hangingPunct="1" marL="0" indent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  <a:defRPr/>
            </a:pPr>
            <a:r>
              <a:rPr sz="1800" b="1" i="0">
                <a:solidFill>
                  <a:srgbClr val="1F3864"/>
                </a:solidFill>
              </a:rPr>
              <a:t>Presentation by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 i="0">
                <a:solidFill>
                  <a:srgbClr val="262626"/>
                </a:solidFill>
              </a:rPr>
              <a:t>Madhavan G  </a:t>
            </a:r>
            <a:r>
              <a:rPr sz="1500" b="1" i="0">
                <a:solidFill>
                  <a:srgbClr val="262626"/>
                </a:solidFill>
              </a:rPr>
              <a:t>(2104251040518)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 i="0">
                <a:solidFill>
                  <a:srgbClr val="262626"/>
                </a:solidFill>
              </a:rPr>
              <a:t>Sriram Sivakumar  </a:t>
            </a:r>
            <a:r>
              <a:rPr sz="1500" b="1" i="0">
                <a:solidFill>
                  <a:srgbClr val="262626"/>
                </a:solidFill>
              </a:rPr>
              <a:t>(2104251040971)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595959"/>
                </a:solidFill>
              </a:rPr>
              <a:t>B.E. Computer Science and Engineering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4B01F8-75A2-E674-8FB3-91C160A648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407" b="13744"/>
          <a:stretch>
            <a:fillRect/>
          </a:stretch>
        </p:blipFill>
        <p:spPr>
          <a:xfrm>
            <a:off x="2746627" y="136526"/>
            <a:ext cx="6698746" cy="113742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8A47D1-B6FE-DF05-8C4F-BF8ADA8CECA2}"/>
              </a:ext>
            </a:extLst>
          </p:cNvPr>
          <p:cNvSpPr txBox="1"/>
          <p:nvPr/>
        </p:nvSpPr>
        <p:spPr>
          <a:xfrm>
            <a:off x="548640" y="2724912"/>
            <a:ext cx="110916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600" b="1" i="0">
                <a:solidFill>
                  <a:srgbClr val="1F3864"/>
                </a:solidFill>
              </a:rPr>
              <a:t>Solar Flare Prediction &amp; Space Weather Alert System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1">
                <a:solidFill>
                  <a:srgbClr val="595959"/>
                </a:solidFill>
              </a:rPr>
              <a:t>Forecasting major (M/X-class) flares 24 hours ahead from solar magnetic-field data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E79CF91-FEBC-8843-2396-3F73C4A93418}"/>
              </a:ext>
            </a:extLst>
          </p:cNvPr>
          <p:cNvSpPr txBox="1">
            <a:spLocks/>
          </p:cNvSpPr>
          <p:nvPr/>
        </p:nvSpPr>
        <p:spPr>
          <a:xfrm>
            <a:off x="7164038" y="4205819"/>
            <a:ext cx="4562669" cy="1747839"/>
          </a:xfrm>
          <a:prstGeom prst="rect">
            <a:avLst/>
          </a:prstGeom>
          <a:noFill/>
        </p:spPr>
        <p:txBody>
          <a:bodyPr vert="horz" lIns="91440" tIns="45720" rIns="91440" bIns="45720" rtlCol="0" wrap="square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  <a:defRPr/>
            </a:pPr>
            <a:r>
              <a:rPr sz="1800" b="1" i="0">
                <a:solidFill>
                  <a:srgbClr val="1F3864"/>
                </a:solidFill>
              </a:rPr>
              <a:t>Mentor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 i="0">
                <a:solidFill>
                  <a:srgbClr val="262626"/>
                </a:solidFill>
              </a:rPr>
              <a:t>Ms Poornima Lakshmi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400" b="0" i="0">
                <a:solidFill>
                  <a:srgbClr val="595959"/>
                </a:solidFill>
              </a:rPr>
              <a:t>Mentor &amp; Project Coordinator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595959"/>
                </a:solidFill>
              </a:rPr>
              <a:t>Dept. of Computer Science and Engineering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DD7FD45-5E4F-0506-E6E9-699A49C3E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1</a:t>
            </a:fld>
            <a:endParaRPr lang="en-IN" dirty="0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CD744800-7B7D-1CC0-99F0-27E4BA9DE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07/10/2026</a:t>
            </a:r>
            <a:endParaRPr lang="en-IN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1FE1F1F0-72E3-4268-62A9-CA71368AD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II–Year PBL Project Final Review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2171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9CACB-BD96-E2FF-8A86-211497479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47675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&amp;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B721-FE62-DE79-132F-30A2E97ED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0" y="995680"/>
            <a:ext cx="11135360" cy="2103120"/>
          </a:xfrm>
          <a:noFill/>
          <a:ln>
            <a:solidFill>
              <a:schemeClr val="tx1"/>
            </a:solidFill>
          </a:ln>
        </p:spPr>
        <p:txBody>
          <a:bodyPr wrap="square" anchor="t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Problem Statement</a:t>
            </a:r>
            <a:endParaRPr lang="en-US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400" b="0" i="0">
                <a:solidFill>
                  <a:srgbClr val="262626"/>
                </a:solidFill>
              </a:rPr>
              <a:t>A major solar flare releases in minutes the energy of billions of tonnes of TNT. The radiation reaches Earth in about eight minutes and disrupts </a:t>
            </a:r>
            <a:r>
              <a:rPr sz="1400" b="1" i="0">
                <a:solidFill>
                  <a:srgbClr val="262626"/>
                </a:solidFill>
              </a:rPr>
              <a:t>HF radio and aviation communication, degrades GPS accuracy, damages satellite electronics and can induce currents that destabilise power grids.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400" b="0" i="0">
                <a:solidFill>
                  <a:srgbClr val="262626"/>
                </a:solidFill>
              </a:rPr>
              <a:t>Satellite operators, polar-route airlines, power utilities and space agencies are all affected, and once an eruption is visible it is already too late to act.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400" b="0" i="0">
                <a:solidFill>
                  <a:srgbClr val="262626"/>
                </a:solidFill>
              </a:rPr>
              <a:t>The magnetic field of a solar active region, however, </a:t>
            </a:r>
            <a:r>
              <a:rPr sz="1400" b="1" i="0">
                <a:solidFill>
                  <a:srgbClr val="262626"/>
                </a:solidFill>
              </a:rPr>
              <a:t>changes measurably in the hours before it erupts.</a:t>
            </a:r>
            <a:r>
              <a:rPr sz="1400" b="0" i="0">
                <a:solidFill>
                  <a:srgbClr val="262626"/>
                </a:solidFill>
              </a:rPr>
              <a:t> The question this project asks is whether that change can be learned from historical observations and turned into a usable 24-hour advance warning.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3CDA66-B5BD-2386-BB8F-491237797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2</a:t>
            </a:fld>
            <a:endParaRPr lang="en-IN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A11D91B-4958-A12F-C19C-77C5B83B1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07/10/2026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C1B7ED-4992-7EBC-5212-A1AE4793B1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9" t="4596" r="67470" b="9539"/>
          <a:stretch>
            <a:fillRect/>
          </a:stretch>
        </p:blipFill>
        <p:spPr>
          <a:xfrm>
            <a:off x="10639226" y="87932"/>
            <a:ext cx="1429148" cy="907748"/>
          </a:xfrm>
          <a:prstGeom prst="rect">
            <a:avLst/>
          </a:prstGeom>
        </p:spPr>
      </p:pic>
      <p:sp>
        <p:nvSpPr>
          <p:cNvPr id="4" name="Footer Placeholder 17">
            <a:extLst>
              <a:ext uri="{FF2B5EF4-FFF2-40B4-BE49-F238E27FC236}">
                <a16:creationId xmlns:a16="http://schemas.microsoft.com/office/drawing/2014/main" id="{30690128-931D-A777-D1FD-90C08716F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II–Year PBL Project Final Review</a:t>
            </a:r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CFBC3A-C6D9-950A-AAA8-D4DC8D77DE35}"/>
              </a:ext>
            </a:extLst>
          </p:cNvPr>
          <p:cNvSpPr txBox="1">
            <a:spLocks/>
          </p:cNvSpPr>
          <p:nvPr/>
        </p:nvSpPr>
        <p:spPr>
          <a:xfrm>
            <a:off x="528320" y="3246120"/>
            <a:ext cx="5431322" cy="3108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Objective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4472C4"/>
                </a:solidFill>
              </a:rPr>
              <a:t>▪  </a:t>
            </a:r>
            <a:r>
              <a:rPr sz="1350" b="1" i="0">
                <a:solidFill>
                  <a:srgbClr val="262626"/>
                </a:solidFill>
              </a:rPr>
              <a:t>Identify</a:t>
            </a:r>
            <a:r>
              <a:rPr sz="1350" b="0" i="0">
                <a:solidFill>
                  <a:srgbClr val="262626"/>
                </a:solidFill>
              </a:rPr>
              <a:t> the magnetic-field signatures that precede major flares, using SDO/HMI SHARP parameters from the SWAN-SF benchmark.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4472C4"/>
                </a:solidFill>
              </a:rPr>
              <a:t>▪  </a:t>
            </a:r>
            <a:r>
              <a:rPr sz="1350" b="1" i="0">
                <a:solidFill>
                  <a:srgbClr val="262626"/>
                </a:solidFill>
              </a:rPr>
              <a:t>Develop</a:t>
            </a:r>
            <a:r>
              <a:rPr sz="1350" b="0" i="0">
                <a:solidFill>
                  <a:srgbClr val="262626"/>
                </a:solidFill>
              </a:rPr>
              <a:t> a leakage-safe pipeline that turns a 12-hour observation window into a 24-hour forecast.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4472C4"/>
                </a:solidFill>
              </a:rPr>
              <a:t>▪  </a:t>
            </a:r>
            <a:r>
              <a:rPr sz="1350" b="1" i="0">
                <a:solidFill>
                  <a:srgbClr val="262626"/>
                </a:solidFill>
              </a:rPr>
              <a:t>Apply and compare</a:t>
            </a:r>
            <a:r>
              <a:rPr sz="1350" b="0" i="0">
                <a:solidFill>
                  <a:srgbClr val="262626"/>
                </a:solidFill>
              </a:rPr>
              <a:t> Logistic Regression and Random Forest across two feature iterations, selecting on validation data only.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4472C4"/>
                </a:solidFill>
              </a:rPr>
              <a:t>▪  </a:t>
            </a:r>
            <a:r>
              <a:rPr sz="1350" b="1" i="0">
                <a:solidFill>
                  <a:srgbClr val="262626"/>
                </a:solidFill>
              </a:rPr>
              <a:t>Evaluate</a:t>
            </a:r>
            <a:r>
              <a:rPr sz="1350" b="0" i="0">
                <a:solidFill>
                  <a:srgbClr val="262626"/>
                </a:solidFill>
              </a:rPr>
              <a:t> on a locked test partition, scored once, using imbalance-aware metrics (TSS, PR-AUC, HSS2) rather than accuracy.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64EE8C4-9DF8-3FF3-8179-F4A537F21798}"/>
              </a:ext>
            </a:extLst>
          </p:cNvPr>
          <p:cNvSpPr txBox="1">
            <a:spLocks/>
          </p:cNvSpPr>
          <p:nvPr/>
        </p:nvSpPr>
        <p:spPr>
          <a:xfrm>
            <a:off x="6232358" y="3246120"/>
            <a:ext cx="5431322" cy="3108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Expected Outcome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0" i="0">
                <a:solidFill>
                  <a:srgbClr val="262626"/>
                </a:solidFill>
              </a:rPr>
              <a:t>A machine-learning system capable of flagging, </a:t>
            </a:r>
            <a:r>
              <a:rPr sz="1350" b="1" i="0">
                <a:solidFill>
                  <a:srgbClr val="262626"/>
                </a:solidFill>
              </a:rPr>
              <a:t>24 hours in advance</a:t>
            </a:r>
            <a:r>
              <a:rPr sz="1350" b="0" i="0">
                <a:solidFill>
                  <a:srgbClr val="262626"/>
                </a:solidFill>
              </a:rPr>
              <a:t>, which solar active regions are likely to produce a major flare.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200" b="0" i="0">
                <a:solidFill>
                  <a:srgbClr val="262626"/>
                </a:solidFill>
              </a:rPr>
              <a:t>Delivered as: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4472C4"/>
                </a:solidFill>
              </a:rPr>
              <a:t>▪  </a:t>
            </a:r>
            <a:r>
              <a:rPr sz="1350" b="0" i="0">
                <a:solidFill>
                  <a:srgbClr val="262626"/>
                </a:solidFill>
              </a:rPr>
              <a:t>a reproducible codebase that recomputes every published number with one command;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4472C4"/>
                </a:solidFill>
              </a:rPr>
              <a:t>▪  </a:t>
            </a:r>
            <a:r>
              <a:rPr sz="1350" b="0" i="0">
                <a:solidFill>
                  <a:srgbClr val="262626"/>
                </a:solidFill>
              </a:rPr>
              <a:t>an interactive web dashboard showing the forecast, the risk level and the exact reason for each decision;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4472C4"/>
                </a:solidFill>
              </a:rPr>
              <a:t>▪  </a:t>
            </a:r>
            <a:r>
              <a:rPr sz="1350" b="0" i="0">
                <a:solidFill>
                  <a:srgbClr val="262626"/>
                </a:solidFill>
              </a:rPr>
              <a:t>an honest account of the error rates, with the failures shown rather than hidden.</a:t>
            </a:r>
          </a:p>
        </p:txBody>
      </p:sp>
    </p:spTree>
    <p:extLst>
      <p:ext uri="{BB962C8B-B14F-4D97-AF65-F5344CB8AC3E}">
        <p14:creationId xmlns:p14="http://schemas.microsoft.com/office/powerpoint/2010/main" val="920474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419B9-8D2B-A5A3-F590-0BFB3384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FBA6E-00B3-FA77-124C-9ED96ECA4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47675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Input, Analysis &amp; Insights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5D538F8-98D7-48A3-27E2-29A0B6829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3</a:t>
            </a:fld>
            <a:endParaRPr lang="en-IN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A5BEA90-A627-443A-8EA9-207D3A67C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07/10/2026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0AD397-676F-684A-AD7C-D3C8687B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9" t="4596" r="67470" b="9539"/>
          <a:stretch>
            <a:fillRect/>
          </a:stretch>
        </p:blipFill>
        <p:spPr>
          <a:xfrm>
            <a:off x="10639226" y="87932"/>
            <a:ext cx="1429148" cy="907748"/>
          </a:xfrm>
          <a:prstGeom prst="rect">
            <a:avLst/>
          </a:prstGeom>
        </p:spPr>
      </p:pic>
      <p:sp>
        <p:nvSpPr>
          <p:cNvPr id="4" name="Footer Placeholder 17">
            <a:extLst>
              <a:ext uri="{FF2B5EF4-FFF2-40B4-BE49-F238E27FC236}">
                <a16:creationId xmlns:a16="http://schemas.microsoft.com/office/drawing/2014/main" id="{8E569DF1-A45B-2F18-2C1D-E91C9F96E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II–Year PBL Project Final Review</a:t>
            </a:r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972567-383A-549B-CF00-1D76A4759ADD}"/>
              </a:ext>
            </a:extLst>
          </p:cNvPr>
          <p:cNvSpPr txBox="1">
            <a:spLocks/>
          </p:cNvSpPr>
          <p:nvPr/>
        </p:nvSpPr>
        <p:spPr>
          <a:xfrm>
            <a:off x="528320" y="995680"/>
            <a:ext cx="5431322" cy="23774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Input / Data Sources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SWAN-SF v1.2</a:t>
            </a:r>
            <a:r>
              <a:rPr sz="1200" b="0" i="0">
                <a:solidFill>
                  <a:srgbClr val="262626"/>
                </a:solidFill>
              </a:rPr>
              <a:t> benchmark, Harvard Dataverse (DOI 10.7910/DVN/EBCFKM).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331,185</a:t>
            </a:r>
            <a:r>
              <a:rPr sz="1200" b="0" i="0">
                <a:solidFill>
                  <a:srgbClr val="262626"/>
                </a:solidFill>
              </a:rPr>
              <a:t> multivariate time-series windows spanning </a:t>
            </a:r>
            <a:r>
              <a:rPr sz="1200" b="1" i="0">
                <a:solidFill>
                  <a:srgbClr val="262626"/>
                </a:solidFill>
              </a:rPr>
              <a:t>2010-05-01 to 2018-08-17</a:t>
            </a:r>
            <a:r>
              <a:rPr sz="1200" b="0" i="0">
                <a:solidFill>
                  <a:srgbClr val="262626"/>
                </a:solidFill>
              </a:rPr>
              <a:t>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0" i="0">
                <a:solidFill>
                  <a:srgbClr val="262626"/>
                </a:solidFill>
              </a:rPr>
              <a:t>Each window: </a:t>
            </a:r>
            <a:r>
              <a:rPr sz="1200" b="1" i="0">
                <a:solidFill>
                  <a:srgbClr val="262626"/>
                </a:solidFill>
              </a:rPr>
              <a:t>12 h</a:t>
            </a:r>
            <a:r>
              <a:rPr sz="1200" b="0" i="0">
                <a:solidFill>
                  <a:srgbClr val="262626"/>
                </a:solidFill>
              </a:rPr>
              <a:t> of SDO/HMI SHARP magnetic parameters at 12-minute cadence — 60 readings × 24 parameters.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0" i="0">
                <a:solidFill>
                  <a:srgbClr val="262626"/>
                </a:solidFill>
              </a:rPr>
              <a:t>Label y = 1 if a </a:t>
            </a:r>
            <a:r>
              <a:rPr sz="1200" b="1" i="0">
                <a:solidFill>
                  <a:srgbClr val="262626"/>
                </a:solidFill>
              </a:rPr>
              <a:t>GOES M- or X-class</a:t>
            </a:r>
            <a:r>
              <a:rPr sz="1200" b="0" i="0">
                <a:solidFill>
                  <a:srgbClr val="262626"/>
                </a:solidFill>
              </a:rPr>
              <a:t> flare begins within the next 24 h.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0" i="0">
                <a:solidFill>
                  <a:srgbClr val="262626"/>
                </a:solidFill>
              </a:rPr>
              <a:t>Five chronological partitions: </a:t>
            </a:r>
            <a:r>
              <a:rPr sz="1200" b="1" i="0">
                <a:solidFill>
                  <a:srgbClr val="262626"/>
                </a:solidFill>
              </a:rPr>
              <a:t>P1–P3 train (204,559)</a:t>
            </a:r>
            <a:r>
              <a:rPr sz="1200" b="0" i="0">
                <a:solidFill>
                  <a:srgbClr val="262626"/>
                </a:solidFill>
              </a:rPr>
              <a:t>, </a:t>
            </a:r>
            <a:r>
              <a:rPr sz="1200" b="1" i="0">
                <a:solidFill>
                  <a:srgbClr val="262626"/>
                </a:solidFill>
              </a:rPr>
              <a:t>P4 validation (51,261)</a:t>
            </a:r>
            <a:r>
              <a:rPr sz="1200" b="0" i="0">
                <a:solidFill>
                  <a:srgbClr val="262626"/>
                </a:solidFill>
              </a:rPr>
              <a:t>, </a:t>
            </a:r>
            <a:r>
              <a:rPr sz="1200" b="1" i="0">
                <a:solidFill>
                  <a:srgbClr val="262626"/>
                </a:solidFill>
              </a:rPr>
              <a:t>P5 test (75,365)</a:t>
            </a:r>
            <a:r>
              <a:rPr sz="1200" b="0" i="0">
                <a:solidFill>
                  <a:srgbClr val="262626"/>
                </a:solidFill>
              </a:rPr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3E7483B-4811-61DA-D7B7-E92B17337300}"/>
              </a:ext>
            </a:extLst>
          </p:cNvPr>
          <p:cNvSpPr txBox="1">
            <a:spLocks/>
          </p:cNvSpPr>
          <p:nvPr/>
        </p:nvSpPr>
        <p:spPr>
          <a:xfrm>
            <a:off x="6232358" y="995680"/>
            <a:ext cx="5431322" cy="53583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Analysis / Processing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24 parameters × 6 statistics = </a:t>
            </a:r>
            <a:r>
              <a:rPr sz="1150" b="1" i="0">
                <a:solidFill>
                  <a:srgbClr val="262626"/>
                </a:solidFill>
              </a:rPr>
              <a:t>144 features</a:t>
            </a:r>
            <a:r>
              <a:rPr sz="1150" b="0" i="0">
                <a:solidFill>
                  <a:srgbClr val="262626"/>
                </a:solidFill>
              </a:rPr>
              <a:t> per window (mean, sd, min, max, slope, last value).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Signed-log transform → median imputation → standardisation — all </a:t>
            </a:r>
            <a:r>
              <a:rPr sz="1150" b="1" i="0">
                <a:solidFill>
                  <a:srgbClr val="262626"/>
                </a:solidFill>
              </a:rPr>
              <a:t>fitted on training data only.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Partitions are </a:t>
            </a:r>
            <a:r>
              <a:rPr sz="1150" b="1" i="0">
                <a:solidFill>
                  <a:srgbClr val="262626"/>
                </a:solidFill>
              </a:rPr>
              <a:t>region-disjoint and time-ordered</a:t>
            </a:r>
            <a:r>
              <a:rPr sz="1150" b="0" i="0">
                <a:solidFill>
                  <a:srgbClr val="262626"/>
                </a:solidFill>
              </a:rPr>
              <a:t>: no window and no active region appears in two splits.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Class imbalance (1.99 % positive in training) handled with class_weight="balanced" — a </a:t>
            </a:r>
            <a:r>
              <a:rPr sz="1150" b="1" i="0">
                <a:solidFill>
                  <a:srgbClr val="262626"/>
                </a:solidFill>
              </a:rPr>
              <a:t>49:1</a:t>
            </a:r>
            <a:r>
              <a:rPr sz="1150" b="0" i="0">
                <a:solidFill>
                  <a:srgbClr val="262626"/>
                </a:solidFill>
              </a:rPr>
              <a:t> weighting.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Thresholds fixed on validation; the test partition was </a:t>
            </a:r>
            <a:r>
              <a:rPr sz="1150" b="1" i="0">
                <a:solidFill>
                  <a:srgbClr val="262626"/>
                </a:solidFill>
              </a:rPr>
              <a:t>scored once.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DC3270D-AF1C-3E78-E712-FD035746225B}"/>
              </a:ext>
            </a:extLst>
          </p:cNvPr>
          <p:cNvSpPr txBox="1">
            <a:spLocks/>
          </p:cNvSpPr>
          <p:nvPr/>
        </p:nvSpPr>
        <p:spPr>
          <a:xfrm>
            <a:off x="528320" y="3474720"/>
            <a:ext cx="5431322" cy="28803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Key Insights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Trend beats snapshot.</a:t>
            </a:r>
            <a:r>
              <a:rPr sz="1200" b="0" i="0">
                <a:solidFill>
                  <a:srgbClr val="262626"/>
                </a:solidFill>
              </a:rPr>
              <a:t> Adding slope and last-value features lifted validation TSS over point-in-time features alone.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Accuracy is meaningless here.</a:t>
            </a:r>
            <a:r>
              <a:rPr sz="1200" b="0" i="0">
                <a:solidFill>
                  <a:srgbClr val="262626"/>
                </a:solidFill>
              </a:rPr>
              <a:t> Only 1.31 % of test windows precede a major flare, so never alerting already scores 98.69 %.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0" i="0">
                <a:solidFill>
                  <a:srgbClr val="262626"/>
                </a:solidFill>
              </a:rPr>
              <a:t>A constant-climatology baseline scores </a:t>
            </a:r>
            <a:r>
              <a:rPr sz="1200" b="1" i="0">
                <a:solidFill>
                  <a:srgbClr val="262626"/>
                </a:solidFill>
              </a:rPr>
              <a:t>TSS 0.000</a:t>
            </a:r>
            <a:r>
              <a:rPr sz="1200" b="0" i="0">
                <a:solidFill>
                  <a:srgbClr val="262626"/>
                </a:solidFill>
              </a:rPr>
              <a:t> and detects nothing; this model scores </a:t>
            </a:r>
            <a:r>
              <a:rPr sz="1200" b="1" i="0">
                <a:solidFill>
                  <a:srgbClr val="262626"/>
                </a:solidFill>
              </a:rPr>
              <a:t>TSS 0.853</a:t>
            </a:r>
            <a:r>
              <a:rPr sz="1200" b="0" i="0">
                <a:solidFill>
                  <a:srgbClr val="262626"/>
                </a:solidFill>
              </a:rPr>
              <a:t>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Total unsigned current helicity</a:t>
            </a:r>
            <a:r>
              <a:rPr sz="1200" b="0" i="0">
                <a:solidFill>
                  <a:srgbClr val="262626"/>
                </a:solidFill>
              </a:rPr>
              <a:t> and </a:t>
            </a:r>
            <a:r>
              <a:rPr sz="1200" b="1" i="0">
                <a:solidFill>
                  <a:srgbClr val="262626"/>
                </a:solidFill>
              </a:rPr>
              <a:t>free magnetic energy</a:t>
            </a:r>
            <a:r>
              <a:rPr sz="1200" b="0" i="0">
                <a:solidFill>
                  <a:srgbClr val="262626"/>
                </a:solidFill>
              </a:rPr>
              <a:t> dominate the fitted coefficients — consistent with the physics of flare onset.</a:t>
            </a:r>
          </a:p>
        </p:txBody>
      </p:sp>
      <p:pic>
        <p:nvPicPr>
          <p:cNvPr id="14" name="Picture 13" descr="fig6_2_iteratio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3456432"/>
            <a:ext cx="4160520" cy="25490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27648" y="6035040"/>
            <a:ext cx="524865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</a:rPr>
              <a:t>Seven candidates were compared; the final model wins on F1 and PR-AUC while holding TSS.</a:t>
            </a:r>
          </a:p>
        </p:txBody>
      </p:sp>
    </p:spTree>
    <p:extLst>
      <p:ext uri="{BB962C8B-B14F-4D97-AF65-F5344CB8AC3E}">
        <p14:creationId xmlns:p14="http://schemas.microsoft.com/office/powerpoint/2010/main" val="3362102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15378-57A1-BD2B-6825-39104D9E9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6032-DF0E-254C-0CD8-AB6E66698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47675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18352F-9C19-CF1E-1D03-4BACF46A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4</a:t>
            </a:fld>
            <a:endParaRPr lang="en-IN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B39290C-FF8D-37DE-61F5-B382DBC80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07/10/2026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9A8F1E-B41B-EFBC-9FA3-324946ED4A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99" t="4596" r="67470" b="9539"/>
          <a:stretch>
            <a:fillRect/>
          </a:stretch>
        </p:blipFill>
        <p:spPr>
          <a:xfrm>
            <a:off x="10639226" y="87932"/>
            <a:ext cx="1429148" cy="907748"/>
          </a:xfrm>
          <a:prstGeom prst="rect">
            <a:avLst/>
          </a:prstGeom>
        </p:spPr>
      </p:pic>
      <p:sp>
        <p:nvSpPr>
          <p:cNvPr id="10" name="Footer Placeholder 17">
            <a:extLst>
              <a:ext uri="{FF2B5EF4-FFF2-40B4-BE49-F238E27FC236}">
                <a16:creationId xmlns:a16="http://schemas.microsoft.com/office/drawing/2014/main" id="{20C423C8-65A4-300E-51C7-B4952EDE1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II–Year PBL Project Final Review</a:t>
            </a:r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5AD724-9C99-5D2A-C540-18B286306A28}"/>
              </a:ext>
            </a:extLst>
          </p:cNvPr>
          <p:cNvSpPr txBox="1">
            <a:spLocks/>
          </p:cNvSpPr>
          <p:nvPr/>
        </p:nvSpPr>
        <p:spPr>
          <a:xfrm>
            <a:off x="528320" y="995680"/>
            <a:ext cx="5431322" cy="228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Architecture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0" i="0">
                <a:solidFill>
                  <a:srgbClr val="262626"/>
                </a:solidFill>
              </a:rPr>
              <a:t>Five stages, end to end: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1.  </a:t>
            </a:r>
            <a:r>
              <a:rPr sz="1150" b="1" i="0">
                <a:solidFill>
                  <a:srgbClr val="262626"/>
                </a:solidFill>
              </a:rPr>
              <a:t>Ingest &amp; validate</a:t>
            </a:r>
            <a:r>
              <a:rPr sz="1150" b="0" i="0">
                <a:solidFill>
                  <a:srgbClr val="262626"/>
                </a:solidFill>
              </a:rPr>
              <a:t> — SWAN-SF archives, timestamp and QUALITY-flag checks.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2.  </a:t>
            </a:r>
            <a:r>
              <a:rPr sz="1150" b="1" i="0">
                <a:solidFill>
                  <a:srgbClr val="262626"/>
                </a:solidFill>
              </a:rPr>
              <a:t>Window &amp; label</a:t>
            </a:r>
            <a:r>
              <a:rPr sz="1150" b="0" i="0">
                <a:solidFill>
                  <a:srgbClr val="262626"/>
                </a:solidFill>
              </a:rPr>
              <a:t> — 12 h observation → 24 h prediction horizon, past data only.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3.  </a:t>
            </a:r>
            <a:r>
              <a:rPr sz="1150" b="1" i="0">
                <a:solidFill>
                  <a:srgbClr val="262626"/>
                </a:solidFill>
              </a:rPr>
              <a:t>Feature construction</a:t>
            </a:r>
            <a:r>
              <a:rPr sz="1150" b="0" i="0">
                <a:solidFill>
                  <a:srgbClr val="262626"/>
                </a:solidFill>
              </a:rPr>
              <a:t> — 144 leakage-safe summary statistics.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4.  </a:t>
            </a:r>
            <a:r>
              <a:rPr sz="1150" b="1" i="0">
                <a:solidFill>
                  <a:srgbClr val="262626"/>
                </a:solidFill>
              </a:rPr>
              <a:t>Train &amp; select</a:t>
            </a:r>
            <a:r>
              <a:rPr sz="1150" b="0" i="0">
                <a:solidFill>
                  <a:srgbClr val="262626"/>
                </a:solidFill>
              </a:rPr>
              <a:t> — fit on P1–P3, choose on P4 by maximum TSS.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5.  </a:t>
            </a:r>
            <a:r>
              <a:rPr sz="1150" b="1" i="0">
                <a:solidFill>
                  <a:srgbClr val="262626"/>
                </a:solidFill>
              </a:rPr>
              <a:t>Serve</a:t>
            </a:r>
            <a:r>
              <a:rPr sz="1150" b="0" i="0">
                <a:solidFill>
                  <a:srgbClr val="262626"/>
                </a:solidFill>
              </a:rPr>
              <a:t> — locked P5 evaluation → risk banding → web dashboard.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6FB5461-00D8-24D8-D0A0-BD98F40612EA}"/>
              </a:ext>
            </a:extLst>
          </p:cNvPr>
          <p:cNvSpPr txBox="1">
            <a:spLocks/>
          </p:cNvSpPr>
          <p:nvPr/>
        </p:nvSpPr>
        <p:spPr>
          <a:xfrm>
            <a:off x="6232358" y="995680"/>
            <a:ext cx="5431322" cy="53583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ML Methodology and Implementation Process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42911C6-4047-D019-EA7D-28985C058142}"/>
              </a:ext>
            </a:extLst>
          </p:cNvPr>
          <p:cNvSpPr txBox="1">
            <a:spLocks/>
          </p:cNvSpPr>
          <p:nvPr/>
        </p:nvSpPr>
        <p:spPr>
          <a:xfrm>
            <a:off x="528320" y="3401568"/>
            <a:ext cx="5431322" cy="29535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Technology Stack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Python 3.12</a:t>
            </a:r>
            <a:r>
              <a:rPr sz="1150" b="0" i="0">
                <a:solidFill>
                  <a:srgbClr val="262626"/>
                </a:solidFill>
              </a:rPr>
              <a:t> · scikit-learn </a:t>
            </a:r>
            <a:r>
              <a:rPr sz="1150" b="1" i="0">
                <a:solidFill>
                  <a:srgbClr val="262626"/>
                </a:solidFill>
              </a:rPr>
              <a:t>1.8.0</a:t>
            </a:r>
            <a:r>
              <a:rPr sz="1150" b="0" i="0">
                <a:solidFill>
                  <a:srgbClr val="262626"/>
                </a:solidFill>
              </a:rPr>
              <a:t> · NumPy · pandas · SciPy · joblib · matplotlib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Pipeline:</a:t>
            </a:r>
            <a:r>
              <a:rPr sz="1150" b="0" i="0">
                <a:solidFill>
                  <a:srgbClr val="262626"/>
                </a:solidFill>
              </a:rPr>
              <a:t> signed-log → median imputer → StandardScaler → Logistic Regression (L2, class-balanced)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Dashboard:</a:t>
            </a:r>
            <a:r>
              <a:rPr sz="1150" b="0" i="0">
                <a:solidFill>
                  <a:srgbClr val="262626"/>
                </a:solidFill>
              </a:rPr>
              <a:t> HTML / CSS / vanilla JavaScript — the fitted model is re-run in the browser and agrees with scikit-learn to 1e-6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Testing:</a:t>
            </a:r>
            <a:r>
              <a:rPr sz="1150" b="0" i="0">
                <a:solidFill>
                  <a:srgbClr val="262626"/>
                </a:solidFill>
              </a:rPr>
              <a:t> pytest (202 tests), Playwright headless browser, Ruff + Black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4472C4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Reproducibility:</a:t>
            </a:r>
            <a:r>
              <a:rPr sz="1150" b="0" i="0">
                <a:solidFill>
                  <a:srgbClr val="262626"/>
                </a:solidFill>
              </a:rPr>
              <a:t> one command — python -m solarflare all — running 375 metric checks and 397 consistency checks</a:t>
            </a:r>
          </a:p>
        </p:txBody>
      </p:sp>
      <p:pic>
        <p:nvPicPr>
          <p:cNvPr id="18" name="Picture 17" descr="fig4_1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9344"/>
            <a:ext cx="5193792" cy="425396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27648" y="5943600"/>
            <a:ext cx="524865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</a:rPr>
              <a:t>Figure 4.1 — implemented end-to-end forecasting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688179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618C8-1A4F-EFB9-CA30-299146157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40AA7-ACBA-6CC8-C67C-FB16D1F50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47675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Feasibility, Risk and Challenges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1E70550-5F49-E002-6AE3-6E645A7FB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5</a:t>
            </a:fld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D383AF-943A-AF13-9532-2E7247763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07/10/2026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F922E5-3869-BACF-D57D-A6E439B7C4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9" t="4596" r="67470" b="9539"/>
          <a:stretch>
            <a:fillRect/>
          </a:stretch>
        </p:blipFill>
        <p:spPr>
          <a:xfrm>
            <a:off x="10639226" y="87932"/>
            <a:ext cx="1429148" cy="907748"/>
          </a:xfrm>
          <a:prstGeom prst="rect">
            <a:avLst/>
          </a:prstGeom>
        </p:spPr>
      </p:pic>
      <p:sp>
        <p:nvSpPr>
          <p:cNvPr id="10" name="Footer Placeholder 17">
            <a:extLst>
              <a:ext uri="{FF2B5EF4-FFF2-40B4-BE49-F238E27FC236}">
                <a16:creationId xmlns:a16="http://schemas.microsoft.com/office/drawing/2014/main" id="{6DD06387-97D0-39D2-34A2-A189B9C87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II–Year PBL Project Final Review</a:t>
            </a:r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1C04632-2C25-41CF-16BF-7E21BD7B277A}"/>
              </a:ext>
            </a:extLst>
          </p:cNvPr>
          <p:cNvSpPr txBox="1">
            <a:spLocks/>
          </p:cNvSpPr>
          <p:nvPr/>
        </p:nvSpPr>
        <p:spPr>
          <a:xfrm>
            <a:off x="528320" y="995680"/>
            <a:ext cx="5431322" cy="23317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Feasibility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Data</a:t>
            </a:r>
            <a:r>
              <a:rPr sz="1200" b="0" i="0">
                <a:solidFill>
                  <a:srgbClr val="262626"/>
                </a:solidFill>
              </a:rPr>
              <a:t> — a public, curated benchmark; no licence barrier and no collection cost.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Compute</a:t>
            </a:r>
            <a:r>
              <a:rPr sz="1200" b="0" i="0">
                <a:solidFill>
                  <a:srgbClr val="262626"/>
                </a:solidFill>
              </a:rPr>
              <a:t> — the full pipeline trains in about 15 minutes on a 4-core laptop. No GPU is required.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Deployment</a:t>
            </a:r>
            <a:r>
              <a:rPr sz="1200" b="0" i="0">
                <a:solidFill>
                  <a:srgbClr val="262626"/>
                </a:solidFill>
              </a:rPr>
              <a:t> — the model is 144 coefficients, so it runs inside a browser tab with the network switched off.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>
                <a:solidFill>
                  <a:srgbClr val="4472C4"/>
                </a:solidFill>
              </a:rPr>
              <a:t>▪  </a:t>
            </a:r>
            <a:r>
              <a:rPr sz="1200" b="1" i="0">
                <a:solidFill>
                  <a:srgbClr val="262626"/>
                </a:solidFill>
              </a:rPr>
              <a:t>Verification</a:t>
            </a:r>
            <a:r>
              <a:rPr sz="1200" b="0" i="0">
                <a:solidFill>
                  <a:srgbClr val="262626"/>
                </a:solidFill>
              </a:rPr>
              <a:t> — every published number recomputes from the repository in about two minutes.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287D6E2-D2A8-8A09-D852-F8844378CEC8}"/>
              </a:ext>
            </a:extLst>
          </p:cNvPr>
          <p:cNvSpPr txBox="1">
            <a:spLocks/>
          </p:cNvSpPr>
          <p:nvPr/>
        </p:nvSpPr>
        <p:spPr>
          <a:xfrm>
            <a:off x="6232358" y="995680"/>
            <a:ext cx="5431322" cy="53583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Risk and Challenges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Severe class imbalance.</a:t>
            </a:r>
            <a:r>
              <a:rPr sz="1150" b="0" i="0">
                <a:solidFill>
                  <a:srgbClr val="262626"/>
                </a:solidFill>
              </a:rPr>
              <a:t> Positives are 1.3–2.0 % of windows, so accuracy is misleading and naive training learns to answer “no flare” always.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Data leakage is the dominant failure mode</a:t>
            </a:r>
            <a:r>
              <a:rPr sz="1150" b="0" i="0">
                <a:solidFill>
                  <a:srgbClr val="262626"/>
                </a:solidFill>
              </a:rPr>
              <a:t> in flare forecasting: overlapping windows and shuffled splits inflate published results.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Low precision.</a:t>
            </a:r>
            <a:r>
              <a:rPr sz="1150" b="0" i="0">
                <a:solidFill>
                  <a:srgbClr val="262626"/>
                </a:solidFill>
              </a:rPr>
              <a:t> At the operating point, </a:t>
            </a:r>
            <a:r>
              <a:rPr sz="1150" b="1" i="0">
                <a:solidFill>
                  <a:srgbClr val="262626"/>
                </a:solidFill>
              </a:rPr>
              <a:t>84 %</a:t>
            </a:r>
            <a:r>
              <a:rPr sz="1150" b="0" i="0">
                <a:solidFill>
                  <a:srgbClr val="262626"/>
                </a:solidFill>
              </a:rPr>
              <a:t> of alerts are not followed by a major flare.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Outputs are not calibrated probabilities</a:t>
            </a:r>
            <a:r>
              <a:rPr sz="1150" b="0" i="0">
                <a:solidFill>
                  <a:srgbClr val="262626"/>
                </a:solidFill>
              </a:rPr>
              <a:t> — they rank well but must not be read as literal chances.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Two raw partition archives (P2, P5) are corrupt</a:t>
            </a:r>
            <a:r>
              <a:rPr sz="1150" b="0" i="0">
                <a:solidFill>
                  <a:srgbClr val="262626"/>
                </a:solidFill>
              </a:rPr>
              <a:t> gzip streams that fail silently mid-stream rather than raising an error.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Retraining from scratch is not bit-identical</a:t>
            </a:r>
            <a:r>
              <a:rPr sz="1150" b="0" i="0">
                <a:solidFill>
                  <a:srgbClr val="262626"/>
                </a:solidFill>
              </a:rPr>
              <a:t> across operating systems and library versions.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BEEC87A-A354-40E4-44C7-0E984250BF0A}"/>
              </a:ext>
            </a:extLst>
          </p:cNvPr>
          <p:cNvSpPr txBox="1">
            <a:spLocks/>
          </p:cNvSpPr>
          <p:nvPr/>
        </p:nvSpPr>
        <p:spPr>
          <a:xfrm>
            <a:off x="528320" y="3438144"/>
            <a:ext cx="5431322" cy="2916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Mitigation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Class weighting plus </a:t>
            </a:r>
            <a:r>
              <a:rPr sz="1150" b="1" i="0">
                <a:solidFill>
                  <a:srgbClr val="262626"/>
                </a:solidFill>
              </a:rPr>
              <a:t>TSS / PR-AUC / HSS2</a:t>
            </a:r>
            <a:r>
              <a:rPr sz="1150" b="0" i="0">
                <a:solidFill>
                  <a:srgbClr val="262626"/>
                </a:solidFill>
              </a:rPr>
              <a:t> reporting, with a climatology baseline for context, instead of accuracy.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Region-disjoint chronological splits, preprocessing fitted on train only, thresholds from validation only — enforced by </a:t>
            </a:r>
            <a:r>
              <a:rPr sz="1150" b="1" i="0">
                <a:solidFill>
                  <a:srgbClr val="262626"/>
                </a:solidFill>
              </a:rPr>
              <a:t>21 automated leakage tests.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Precision is published rather than hidden, and an operating-point view exposes the trade-off. </a:t>
            </a:r>
            <a:r>
              <a:rPr sz="1150" b="1" i="0">
                <a:solidFill>
                  <a:srgbClr val="262626"/>
                </a:solidFill>
              </a:rPr>
              <a:t>78 %</a:t>
            </a:r>
            <a:r>
              <a:rPr sz="1150" b="0" i="0">
                <a:solidFill>
                  <a:srgbClr val="262626"/>
                </a:solidFill>
              </a:rPr>
              <a:t> of the false alarms did precede a real B- or C-class flare.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Archive integrity is verified before extraction; frozen artefacts are committed and write-protected in code.</a:t>
            </a:r>
          </a:p>
        </p:txBody>
      </p:sp>
      <p:pic>
        <p:nvPicPr>
          <p:cNvPr id="16" name="Picture 15" descr="d_ope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657600"/>
            <a:ext cx="5193792" cy="98226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355080" y="4663440"/>
            <a:ext cx="51937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buNone/>
            </a:pPr>
            <a:r>
              <a:rPr sz="950" b="0" i="1">
                <a:solidFill>
                  <a:srgbClr val="595959"/>
                </a:solidFill>
              </a:rPr>
              <a:t>Moving the threshold shows what each choice costs.</a:t>
            </a:r>
          </a:p>
        </p:txBody>
      </p:sp>
      <p:pic>
        <p:nvPicPr>
          <p:cNvPr id="18" name="Picture 17" descr="d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029200"/>
            <a:ext cx="5193792" cy="1053935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355080" y="6108192"/>
            <a:ext cx="51937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buNone/>
            </a:pPr>
            <a:r>
              <a:rPr sz="950" b="0" i="1">
                <a:solidFill>
                  <a:srgbClr val="595959"/>
                </a:solidFill>
              </a:rPr>
              <a:t>An uncalibrated probability is delivered as a three-level band.</a:t>
            </a:r>
          </a:p>
        </p:txBody>
      </p:sp>
    </p:spTree>
    <p:extLst>
      <p:ext uri="{BB962C8B-B14F-4D97-AF65-F5344CB8AC3E}">
        <p14:creationId xmlns:p14="http://schemas.microsoft.com/office/powerpoint/2010/main" val="893038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B97E5-D400-46AE-AE05-98F3D3664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03512-77FF-BCD5-5958-FBFA0FD12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47675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and Applications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D2D4A5-60AA-677E-EC4C-E20C7280E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6</a:t>
            </a:fld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83DF96-CDCE-6198-A813-9DB585D26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07/10/2026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6D0B08-F462-E519-F15E-E0BEB7ABC6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9" t="4596" r="67470" b="9539"/>
          <a:stretch>
            <a:fillRect/>
          </a:stretch>
        </p:blipFill>
        <p:spPr>
          <a:xfrm>
            <a:off x="10639226" y="87932"/>
            <a:ext cx="1429148" cy="907748"/>
          </a:xfrm>
          <a:prstGeom prst="rect">
            <a:avLst/>
          </a:prstGeom>
        </p:spPr>
      </p:pic>
      <p:sp>
        <p:nvSpPr>
          <p:cNvPr id="10" name="Footer Placeholder 17">
            <a:extLst>
              <a:ext uri="{FF2B5EF4-FFF2-40B4-BE49-F238E27FC236}">
                <a16:creationId xmlns:a16="http://schemas.microsoft.com/office/drawing/2014/main" id="{C0015C01-C564-94FA-3121-AFE7427CA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II–Year PBL Project Final Review</a:t>
            </a:r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E1DBB35-58EA-739D-2CD4-B03EDDE7BA67}"/>
              </a:ext>
            </a:extLst>
          </p:cNvPr>
          <p:cNvSpPr txBox="1">
            <a:spLocks/>
          </p:cNvSpPr>
          <p:nvPr/>
        </p:nvSpPr>
        <p:spPr>
          <a:xfrm>
            <a:off x="528320" y="969264"/>
            <a:ext cx="11135360" cy="41330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Project Output  —  interactive dashboard, evaluated on 75,365 unseen windows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EE1A65-5554-8149-DD9A-F4A84BC9A521}"/>
              </a:ext>
            </a:extLst>
          </p:cNvPr>
          <p:cNvSpPr txBox="1">
            <a:spLocks/>
          </p:cNvSpPr>
          <p:nvPr/>
        </p:nvSpPr>
        <p:spPr>
          <a:xfrm>
            <a:off x="528320" y="5157216"/>
            <a:ext cx="11135360" cy="10424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3864"/>
                </a:solidFill>
              </a:rPr>
              <a:t>Applications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200" b="0" i="0">
                <a:solidFill>
                  <a:srgbClr val="262626"/>
                </a:solidFill>
              </a:rPr>
              <a:t>Satellite operations (safe-mode and manoeuvre scheduling) · Polar-route aviation (HF-radio and radiation planning) · Power-grid readiness against geomagnetically induced currents · Launch and spacewalk scheduling · Space-agency situational awareness · A teaching benchmark for severely imbalanced time-series forecasting.</a:t>
            </a:r>
          </a:p>
        </p:txBody>
      </p:sp>
      <p:pic>
        <p:nvPicPr>
          <p:cNvPr id="12" name="Picture 11" descr="d_eval_k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1389888"/>
            <a:ext cx="10991088" cy="785077"/>
          </a:xfrm>
          <a:prstGeom prst="rect">
            <a:avLst/>
          </a:prstGeom>
        </p:spPr>
      </p:pic>
      <p:pic>
        <p:nvPicPr>
          <p:cNvPr id="13" name="Picture 12" descr="d_re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04288"/>
            <a:ext cx="7132320" cy="185833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14" name="Picture 13" descr="d_confu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2" y="2532888"/>
            <a:ext cx="3657600" cy="139914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03504" y="4206240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</a:rPr>
              <a:t>Replay of a real active region (HARP 7115, September 2017): the forecast crosses the alert threshold and stays high through the X1.3 flare.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20624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</a:rPr>
              <a:t>Confusion matrix on the locked test partition.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572000"/>
            <a:ext cx="109910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200" b="1" i="0">
                <a:solidFill>
                  <a:srgbClr val="262626"/>
                </a:solidFill>
              </a:rPr>
              <a:t>907 of 990</a:t>
            </a:r>
            <a:r>
              <a:rPr sz="1200" b="0" i="0">
                <a:solidFill>
                  <a:srgbClr val="262626"/>
                </a:solidFill>
              </a:rPr>
              <a:t> flare-producing windows were caught (</a:t>
            </a:r>
            <a:r>
              <a:rPr sz="1200" b="1" i="0">
                <a:solidFill>
                  <a:srgbClr val="262626"/>
                </a:solidFill>
              </a:rPr>
              <a:t>recall 0.916</a:t>
            </a:r>
            <a:r>
              <a:rPr sz="1200" b="0" i="0">
                <a:solidFill>
                  <a:srgbClr val="262626"/>
                </a:solidFill>
              </a:rPr>
              <a:t>, 95 % CI 0.812–0.976), including </a:t>
            </a:r>
            <a:r>
              <a:rPr sz="1200" b="1" i="0">
                <a:solidFill>
                  <a:srgbClr val="262626"/>
                </a:solidFill>
              </a:rPr>
              <a:t>19 of 19 X-class windows</a:t>
            </a:r>
            <a:r>
              <a:rPr sz="1200" b="0" i="0">
                <a:solidFill>
                  <a:srgbClr val="262626"/>
                </a:solidFill>
              </a:rPr>
              <a:t>, at a false-alarm rate of </a:t>
            </a:r>
            <a:r>
              <a:rPr sz="1200" b="1" i="0">
                <a:solidFill>
                  <a:srgbClr val="262626"/>
                </a:solidFill>
              </a:rPr>
              <a:t>0.063</a:t>
            </a:r>
            <a:r>
              <a:rPr sz="1200" b="0" i="0">
                <a:solidFill>
                  <a:srgbClr val="262626"/>
                </a:solidFill>
              </a:rPr>
              <a:t>. Precision is </a:t>
            </a:r>
            <a:r>
              <a:rPr sz="1200" b="1" i="0">
                <a:solidFill>
                  <a:srgbClr val="262626"/>
                </a:solidFill>
              </a:rPr>
              <a:t>0.162</a:t>
            </a:r>
            <a:r>
              <a:rPr sz="1200" b="0" i="0">
                <a:solidFill>
                  <a:srgbClr val="262626"/>
                </a:solidFill>
              </a:rPr>
              <a:t> — shown, not hidden.</a:t>
            </a:r>
          </a:p>
        </p:txBody>
      </p:sp>
    </p:spTree>
    <p:extLst>
      <p:ext uri="{BB962C8B-B14F-4D97-AF65-F5344CB8AC3E}">
        <p14:creationId xmlns:p14="http://schemas.microsoft.com/office/powerpoint/2010/main" val="3620054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361FE-0713-93E6-DB86-E7964832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4127E-C73E-C2B8-523A-E1BCE6D63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47675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Conclusion, Limitations &amp; Future Scope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72919A-FB09-BDBD-EB1B-AC9C345A3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7</a:t>
            </a:fld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32C21-FD78-2AEE-FF81-92AB93C97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07/10/2026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F0DB14-E55E-F110-C797-B68990B575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9" t="4596" r="67470" b="9539"/>
          <a:stretch>
            <a:fillRect/>
          </a:stretch>
        </p:blipFill>
        <p:spPr>
          <a:xfrm>
            <a:off x="10639226" y="87932"/>
            <a:ext cx="1429148" cy="907748"/>
          </a:xfrm>
          <a:prstGeom prst="rect">
            <a:avLst/>
          </a:prstGeom>
        </p:spPr>
      </p:pic>
      <p:sp>
        <p:nvSpPr>
          <p:cNvPr id="10" name="Footer Placeholder 17">
            <a:extLst>
              <a:ext uri="{FF2B5EF4-FFF2-40B4-BE49-F238E27FC236}">
                <a16:creationId xmlns:a16="http://schemas.microsoft.com/office/drawing/2014/main" id="{28924AA9-C1C9-5F20-B7B4-5C66E415C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II–Year PBL Project Final Review</a:t>
            </a:r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9DE962E-8FA1-1659-E5F2-3EBFA857DF56}"/>
              </a:ext>
            </a:extLst>
          </p:cNvPr>
          <p:cNvSpPr txBox="1">
            <a:spLocks/>
          </p:cNvSpPr>
          <p:nvPr/>
        </p:nvSpPr>
        <p:spPr>
          <a:xfrm>
            <a:off x="528320" y="995680"/>
            <a:ext cx="11135360" cy="21945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Conclusion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250" b="0" i="0">
                <a:solidFill>
                  <a:srgbClr val="262626"/>
                </a:solidFill>
              </a:rPr>
              <a:t>We developed a </a:t>
            </a:r>
            <a:r>
              <a:rPr sz="1250" b="1" i="0">
                <a:solidFill>
                  <a:srgbClr val="262626"/>
                </a:solidFill>
              </a:rPr>
              <a:t>leakage-safe machine-learning pipeline</a:t>
            </a:r>
            <a:r>
              <a:rPr sz="1250" b="0" i="0">
                <a:solidFill>
                  <a:srgbClr val="262626"/>
                </a:solidFill>
              </a:rPr>
              <a:t> using SWAN-SF SHARP magnetic-field parameters to forecast major (M/X-class) solar flares </a:t>
            </a:r>
            <a:r>
              <a:rPr sz="1250" b="1" i="0">
                <a:solidFill>
                  <a:srgbClr val="262626"/>
                </a:solidFill>
              </a:rPr>
              <a:t>24 hours in advance.</a:t>
            </a:r>
            <a:r>
              <a:rPr sz="1250" b="0" i="0">
                <a:solidFill>
                  <a:srgbClr val="262626"/>
                </a:solidFill>
              </a:rPr>
              <a:t> Seven candidate models were trained on 204,559 windows and compared on a separate validation partition; the selected model — </a:t>
            </a:r>
            <a:r>
              <a:rPr sz="1250" b="1" i="0">
                <a:solidFill>
                  <a:srgbClr val="262626"/>
                </a:solidFill>
              </a:rPr>
              <a:t>L2-regularised Logistic Regression on temporal features</a:t>
            </a:r>
            <a:r>
              <a:rPr sz="1250" b="0" i="0">
                <a:solidFill>
                  <a:srgbClr val="262626"/>
                </a:solidFill>
              </a:rPr>
              <a:t> — was then scored </a:t>
            </a:r>
            <a:r>
              <a:rPr sz="1250" b="1" i="0">
                <a:solidFill>
                  <a:srgbClr val="262626"/>
                </a:solidFill>
              </a:rPr>
              <a:t>once</a:t>
            </a:r>
            <a:r>
              <a:rPr sz="1250" b="0" i="0">
                <a:solidFill>
                  <a:srgbClr val="262626"/>
                </a:solidFill>
              </a:rPr>
              <a:t> on 75,365 windows it had never seen.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250" b="0" i="0">
                <a:solidFill>
                  <a:srgbClr val="262626"/>
                </a:solidFill>
              </a:rPr>
              <a:t>It achieved a </a:t>
            </a:r>
            <a:r>
              <a:rPr sz="1250" b="1" i="0">
                <a:solidFill>
                  <a:srgbClr val="262626"/>
                </a:solidFill>
              </a:rPr>
              <a:t>True Skill Statistic of 0.853</a:t>
            </a:r>
            <a:r>
              <a:rPr sz="1250" b="0" i="0">
                <a:solidFill>
                  <a:srgbClr val="262626"/>
                </a:solidFill>
              </a:rPr>
              <a:t> (95 % CI 0.751–0.915), detecting </a:t>
            </a:r>
            <a:r>
              <a:rPr sz="1250" b="1" i="0">
                <a:solidFill>
                  <a:srgbClr val="262626"/>
                </a:solidFill>
              </a:rPr>
              <a:t>907 of 990</a:t>
            </a:r>
            <a:r>
              <a:rPr sz="1250" b="0" i="0">
                <a:solidFill>
                  <a:srgbClr val="262626"/>
                </a:solidFill>
              </a:rPr>
              <a:t> flare-producing windows — </a:t>
            </a:r>
            <a:r>
              <a:rPr sz="1250" b="1" i="0">
                <a:solidFill>
                  <a:srgbClr val="262626"/>
                </a:solidFill>
              </a:rPr>
              <a:t>91.6 % recall</a:t>
            </a:r>
            <a:r>
              <a:rPr sz="1250" b="0" i="0">
                <a:solidFill>
                  <a:srgbClr val="262626"/>
                </a:solidFill>
              </a:rPr>
              <a:t>, and </a:t>
            </a:r>
            <a:r>
              <a:rPr sz="1250" b="1" i="0">
                <a:solidFill>
                  <a:srgbClr val="262626"/>
                </a:solidFill>
              </a:rPr>
              <a:t>all 19 X-class windows</a:t>
            </a:r>
            <a:r>
              <a:rPr sz="1250" b="0" i="0">
                <a:solidFill>
                  <a:srgbClr val="262626"/>
                </a:solidFill>
              </a:rPr>
              <a:t> — at a false-alarm rate of 0.063 and </a:t>
            </a:r>
            <a:r>
              <a:rPr sz="1250" b="1" i="0">
                <a:solidFill>
                  <a:srgbClr val="262626"/>
                </a:solidFill>
              </a:rPr>
              <a:t>ROC-AUC 0.979</a:t>
            </a:r>
            <a:r>
              <a:rPr sz="1250" b="0" i="0">
                <a:solidFill>
                  <a:srgbClr val="262626"/>
                </a:solidFill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250" b="0" i="0">
                <a:solidFill>
                  <a:srgbClr val="262626"/>
                </a:solidFill>
              </a:rPr>
              <a:t>Every published number recomputes from the repository with a single command, and the project ships an interactive dashboard that runs the real trained model in the browser.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7714C8B-8CE9-ACE7-94F1-0BFA4EB5B338}"/>
              </a:ext>
            </a:extLst>
          </p:cNvPr>
          <p:cNvSpPr txBox="1">
            <a:spLocks/>
          </p:cNvSpPr>
          <p:nvPr/>
        </p:nvSpPr>
        <p:spPr>
          <a:xfrm>
            <a:off x="6232358" y="3310128"/>
            <a:ext cx="5431322" cy="30449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Future Scope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Probability calibration</a:t>
            </a:r>
            <a:r>
              <a:rPr sz="1150" b="0" i="0">
                <a:solidFill>
                  <a:srgbClr val="262626"/>
                </a:solidFill>
              </a:rPr>
              <a:t> on a held-out year, so the output can be read as a genuine chance.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Sequence models</a:t>
            </a:r>
            <a:r>
              <a:rPr sz="1150" b="0" i="0">
                <a:solidFill>
                  <a:srgbClr val="262626"/>
                </a:solidFill>
              </a:rPr>
              <a:t> (LSTM / Transformer) on the raw 60-step series instead of summary statistics.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Extend to </a:t>
            </a:r>
            <a:r>
              <a:rPr sz="1150" b="1" i="0">
                <a:solidFill>
                  <a:srgbClr val="262626"/>
                </a:solidFill>
              </a:rPr>
              <a:t>solar cycle 25</a:t>
            </a:r>
            <a:r>
              <a:rPr sz="1150" b="0" i="0">
                <a:solidFill>
                  <a:srgbClr val="262626"/>
                </a:solidFill>
              </a:rPr>
              <a:t> (2019–present) and to other magnetograph instruments.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Add </a:t>
            </a:r>
            <a:r>
              <a:rPr sz="1150" b="1" i="0">
                <a:solidFill>
                  <a:srgbClr val="262626"/>
                </a:solidFill>
              </a:rPr>
              <a:t>magnetogram imagery</a:t>
            </a:r>
            <a:r>
              <a:rPr sz="1150" b="0" i="0">
                <a:solidFill>
                  <a:srgbClr val="262626"/>
                </a:solidFill>
              </a:rPr>
              <a:t> alongside the scalar SHARP parameters.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Cost-sensitive thresholds</a:t>
            </a:r>
            <a:r>
              <a:rPr sz="1150" b="0" i="0">
                <a:solidFill>
                  <a:srgbClr val="262626"/>
                </a:solidFill>
              </a:rPr>
              <a:t> per user — a satellite operator and a power utility do not pay the same price for a miss.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1E6B3A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Ingest a </a:t>
            </a:r>
            <a:r>
              <a:rPr sz="1150" b="1" i="0">
                <a:solidFill>
                  <a:srgbClr val="262626"/>
                </a:solidFill>
              </a:rPr>
              <a:t>live SHARP feed</a:t>
            </a:r>
            <a:r>
              <a:rPr sz="1150" b="0" i="0">
                <a:solidFill>
                  <a:srgbClr val="262626"/>
                </a:solidFill>
              </a:rPr>
              <a:t> to move from prototype toward an operational service.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053D1FB-4EE1-2E64-D1C8-8DCF2C5E10E8}"/>
              </a:ext>
            </a:extLst>
          </p:cNvPr>
          <p:cNvSpPr txBox="1">
            <a:spLocks/>
          </p:cNvSpPr>
          <p:nvPr/>
        </p:nvSpPr>
        <p:spPr>
          <a:xfrm>
            <a:off x="528320" y="3310128"/>
            <a:ext cx="5431322" cy="30449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864"/>
                </a:solidFill>
              </a:rPr>
              <a:t>Limitations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Precision is 0.162</a:t>
            </a:r>
            <a:r>
              <a:rPr sz="1150" b="0" i="0">
                <a:solidFill>
                  <a:srgbClr val="262626"/>
                </a:solidFill>
              </a:rPr>
              <a:t> — 84 % of alerts are not followed by an M/X flare (though 78 % do precede a smaller B/C flare).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Outputs rank well but are </a:t>
            </a:r>
            <a:r>
              <a:rPr sz="1150" b="1" i="0">
                <a:solidFill>
                  <a:srgbClr val="262626"/>
                </a:solidFill>
              </a:rPr>
              <a:t>not calibrated</a:t>
            </a:r>
            <a:r>
              <a:rPr sz="1150" b="0" i="0">
                <a:solidFill>
                  <a:srgbClr val="262626"/>
                </a:solidFill>
              </a:rPr>
              <a:t> — they are not literal chances.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1" i="0">
                <a:solidFill>
                  <a:srgbClr val="262626"/>
                </a:solidFill>
              </a:rPr>
              <a:t>One instrument, one span:</a:t>
            </a:r>
            <a:r>
              <a:rPr sz="1150" b="0" i="0">
                <a:solidFill>
                  <a:srgbClr val="262626"/>
                </a:solidFill>
              </a:rPr>
              <a:t> SDO/HMI, 2010–2018. No validation beyond 2018 or on other instruments.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Only </a:t>
            </a:r>
            <a:r>
              <a:rPr sz="1150" b="1" i="0">
                <a:solidFill>
                  <a:srgbClr val="262626"/>
                </a:solidFill>
              </a:rPr>
              <a:t>19 X-class windows</a:t>
            </a:r>
            <a:r>
              <a:rPr sz="1150" b="0" i="0">
                <a:solidFill>
                  <a:srgbClr val="262626"/>
                </a:solidFill>
              </a:rPr>
              <a:t> in the test set, so that recall carries a wide interval.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Two raw archives are corrupt; results rest on the previously extracted features.</a:t>
            </a:r>
          </a:p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>
                <a:solidFill>
                  <a:srgbClr val="C0500D"/>
                </a:solidFill>
              </a:rPr>
              <a:t>▪  </a:t>
            </a:r>
            <a:r>
              <a:rPr sz="1150" b="0" i="0">
                <a:solidFill>
                  <a:srgbClr val="262626"/>
                </a:solidFill>
              </a:rPr>
              <a:t>From-scratch retraining is </a:t>
            </a:r>
            <a:r>
              <a:rPr sz="1150" b="1" i="0">
                <a:solidFill>
                  <a:srgbClr val="262626"/>
                </a:solidFill>
              </a:rPr>
              <a:t>not bit-reproducible</a:t>
            </a:r>
            <a:r>
              <a:rPr sz="1150" b="0" i="0">
                <a:solidFill>
                  <a:srgbClr val="262626"/>
                </a:solidFill>
              </a:rPr>
              <a:t> across platforms.</a:t>
            </a:r>
          </a:p>
        </p:txBody>
      </p:sp>
    </p:spTree>
    <p:extLst>
      <p:ext uri="{BB962C8B-B14F-4D97-AF65-F5344CB8AC3E}">
        <p14:creationId xmlns:p14="http://schemas.microsoft.com/office/powerpoint/2010/main" val="580770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B6885-6B9A-270E-D011-C6195CEF0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7B8957-8828-E623-0D1B-083069FEC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E2AE5-9218-4A07-842F-E84162EAAD55}" type="slidenum">
              <a:rPr lang="en-IN" smtClean="0"/>
              <a:t>8</a:t>
            </a:fld>
            <a:endParaRPr lang="en-IN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3648C33D-8B31-6B82-2E8D-DC4C841DE344}"/>
              </a:ext>
            </a:extLst>
          </p:cNvPr>
          <p:cNvSpPr txBox="1">
            <a:spLocks/>
          </p:cNvSpPr>
          <p:nvPr/>
        </p:nvSpPr>
        <p:spPr>
          <a:xfrm>
            <a:off x="3814663" y="5210996"/>
            <a:ext cx="4562669" cy="87929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wrap="square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  <a:defRPr/>
            </a:pPr>
            <a:r>
              <a:rPr sz="1900" b="1" i="0">
                <a:solidFill>
                  <a:srgbClr val="1F3864"/>
                </a:solidFill>
              </a:rPr>
              <a:t>Madhavan G   ·   Sriram Sivakumar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595959"/>
                </a:solidFill>
              </a:rPr>
              <a:t>B.E. Computer Science and Engineering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2A3C68FE-708A-E575-2346-D66B76F28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Date: 07/10/2026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233C03-9E8E-963B-6AEE-A6F08D165C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407" b="13744"/>
          <a:stretch>
            <a:fillRect/>
          </a:stretch>
        </p:blipFill>
        <p:spPr>
          <a:xfrm>
            <a:off x="2746625" y="136525"/>
            <a:ext cx="6698746" cy="13330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6DAC499-8CE4-9EB6-4C6F-AF24243B97F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88" y="1646945"/>
            <a:ext cx="4782020" cy="3386700"/>
          </a:xfrm>
          <a:prstGeom prst="rect">
            <a:avLst/>
          </a:prstGeom>
        </p:spPr>
      </p:pic>
      <p:sp>
        <p:nvSpPr>
          <p:cNvPr id="10" name="Footer Placeholder 17">
            <a:extLst>
              <a:ext uri="{FF2B5EF4-FFF2-40B4-BE49-F238E27FC236}">
                <a16:creationId xmlns:a16="http://schemas.microsoft.com/office/drawing/2014/main" id="{85787E0A-82D9-5CAB-8C09-1F3F24B08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II–Year PBL Project Final Review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918ED0-F7FD-61C4-5F6D-45B18985D959}"/>
              </a:ext>
            </a:extLst>
          </p:cNvPr>
          <p:cNvSpPr txBox="1"/>
          <p:nvPr/>
        </p:nvSpPr>
        <p:spPr>
          <a:xfrm>
            <a:off x="5105400" y="7513282"/>
            <a:ext cx="224188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</a:t>
            </a:r>
            <a:endParaRPr lang="en-IN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2006C30-F416-F103-AA83-A6555D710B62}"/>
              </a:ext>
            </a:extLst>
          </p:cNvPr>
          <p:cNvGrpSpPr/>
          <p:nvPr/>
        </p:nvGrpSpPr>
        <p:grpSpPr>
          <a:xfrm>
            <a:off x="702620" y="3285299"/>
            <a:ext cx="3014358" cy="1775255"/>
            <a:chOff x="702620" y="3285299"/>
            <a:chExt cx="3014358" cy="1775255"/>
          </a:xfrm>
        </p:grpSpPr>
        <p:pic>
          <p:nvPicPr>
            <p:cNvPr id="4" name="Picture 3" descr="Video - Free technology icons">
              <a:extLst>
                <a:ext uri="{FF2B5EF4-FFF2-40B4-BE49-F238E27FC236}">
                  <a16:creationId xmlns:a16="http://schemas.microsoft.com/office/drawing/2014/main" id="{20AF4B87-C09B-B0BF-63C8-DF3D52FD4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05024" y="3285299"/>
              <a:ext cx="997561" cy="997561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B7369601-F94C-8283-5031-C1F98541F694}"/>
                </a:ext>
              </a:extLst>
            </p:cNvPr>
            <p:cNvSpPr txBox="1">
              <a:spLocks/>
            </p:cNvSpPr>
            <p:nvPr/>
          </p:nvSpPr>
          <p:spPr>
            <a:xfrm>
              <a:off x="702620" y="4181255"/>
              <a:ext cx="3014358" cy="8792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vert="horz" lIns="91440" tIns="45720" rIns="91440" bIns="45720" rtlCol="0" wrap="square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None/>
              </a:pPr>
              <a:r>
                <a:rPr sz="1400" b="1" i="0">
                  <a:solidFill>
                    <a:srgbClr val="1F3864"/>
                  </a:solidFill>
                </a:rPr>
                <a:t>Project Video Link</a:t>
              </a:r>
              <a:endPara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100" b="0" i="1">
                  <a:solidFill>
                    <a:srgbClr val="595959"/>
                  </a:solidFill>
                </a:rPr>
                <a:t>&lt;paste the drive / YouTube URL of the voice-over demo here&gt;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63A19-86CA-308B-4F8B-37E96DFBBAB8}"/>
              </a:ext>
            </a:extLst>
          </p:cNvPr>
          <p:cNvGrpSpPr/>
          <p:nvPr/>
        </p:nvGrpSpPr>
        <p:grpSpPr>
          <a:xfrm>
            <a:off x="8475018" y="3344430"/>
            <a:ext cx="3014358" cy="1716124"/>
            <a:chOff x="8475018" y="3344430"/>
            <a:chExt cx="3014358" cy="171612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A4E5C56-C77A-1635-7CC4-71BC5FB9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6553" y="3344430"/>
              <a:ext cx="879298" cy="879298"/>
            </a:xfrm>
            <a:prstGeom prst="rect">
              <a:avLst/>
            </a:prstGeom>
          </p:spPr>
        </p:pic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19622691-213E-2374-E58E-253554DF0409}"/>
                </a:ext>
              </a:extLst>
            </p:cNvPr>
            <p:cNvSpPr txBox="1">
              <a:spLocks/>
            </p:cNvSpPr>
            <p:nvPr/>
          </p:nvSpPr>
          <p:spPr>
            <a:xfrm>
              <a:off x="8475018" y="4181255"/>
              <a:ext cx="3014358" cy="8792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vert="horz" lIns="91440" tIns="45720" rIns="91440" bIns="45720" rtlCol="0" wrap="square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None/>
              </a:pPr>
              <a:r>
                <a:rPr sz="1400" b="1" i="0">
                  <a:solidFill>
                    <a:srgbClr val="1F3864"/>
                  </a:solidFill>
                </a:rPr>
                <a:t>GitHub Repository Link</a:t>
              </a:r>
              <a:endPara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000" b="0" i="0">
                  <a:solidFill>
                    <a:srgbClr val="4472C4"/>
                  </a:solidFill>
                </a:rPr>
                <a:t>https://github.com/Madhavan777/Solar-Flare-Prediction-System-Weather</a:t>
              </a:r>
            </a:p>
          </p:txBody>
        </p:sp>
      </p:grpSp>
      <p:pic>
        <p:nvPicPr>
          <p:cNvPr id="26" name="Picture 25" descr="qr_re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9488" y="5138928"/>
            <a:ext cx="1051560" cy="1051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98280" y="6199632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</a:rPr>
              <a:t>Scan for the repository</a:t>
            </a:r>
          </a:p>
        </p:txBody>
      </p:sp>
    </p:spTree>
    <p:extLst>
      <p:ext uri="{BB962C8B-B14F-4D97-AF65-F5344CB8AC3E}">
        <p14:creationId xmlns:p14="http://schemas.microsoft.com/office/powerpoint/2010/main" val="3718180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1143</TotalTime>
  <Words>577</Words>
  <Application>Microsoft Office PowerPoint</Application>
  <PresentationFormat>Widescreen</PresentationFormat>
  <Paragraphs>104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CS3503 – Machine Learning PBL Project Review</vt:lpstr>
      <vt:lpstr>Problem &amp; Objectives</vt:lpstr>
      <vt:lpstr>Input, Analysis &amp; Insights</vt:lpstr>
      <vt:lpstr> Technical Approach</vt:lpstr>
      <vt:lpstr> Feasibility, Risk and Challenges</vt:lpstr>
      <vt:lpstr> Result and Applications </vt:lpstr>
      <vt:lpstr>Conclusion, Limitations &amp; Future Scope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ayeesha nasreen</dc:creator>
  <cp:lastModifiedBy>Pratham Verma</cp:lastModifiedBy>
  <cp:revision>16</cp:revision>
  <dcterms:created xsi:type="dcterms:W3CDTF">2025-03-10T15:11:33Z</dcterms:created>
  <dcterms:modified xsi:type="dcterms:W3CDTF">2026-09-24T06:06:07Z</dcterms:modified>
</cp:coreProperties>
</file>